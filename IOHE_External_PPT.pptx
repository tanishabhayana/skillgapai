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9"/>
  </p:notesMasterIdLst>
  <p:handoutMasterIdLst>
    <p:handoutMasterId r:id="rId20"/>
  </p:handoutMasterIdLst>
  <p:sldIdLst>
    <p:sldId id="256" r:id="rId5"/>
    <p:sldId id="257" r:id="rId6"/>
    <p:sldId id="269" r:id="rId7"/>
    <p:sldId id="270" r:id="rId8"/>
    <p:sldId id="271" r:id="rId9"/>
    <p:sldId id="272" r:id="rId10"/>
    <p:sldId id="273" r:id="rId11"/>
    <p:sldId id="274" r:id="rId12"/>
    <p:sldId id="275" r:id="rId13"/>
    <p:sldId id="276" r:id="rId14"/>
    <p:sldId id="277" r:id="rId15"/>
    <p:sldId id="278" r:id="rId16"/>
    <p:sldId id="279" r:id="rId17"/>
    <p:sldId id="268" r:id="rId18"/>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336" y="-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4BBE70-290C-47A9-87E2-BBCB0174A44F}"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N"/>
        </a:p>
      </dgm:t>
    </dgm:pt>
    <dgm:pt modelId="{495AB0B2-4AA9-4C40-A437-BDA3084010CB}">
      <dgm:prSet/>
      <dgm:spPr/>
      <dgm:t>
        <a:bodyPr/>
        <a:lstStyle/>
        <a:p>
          <a:pPr rtl="0"/>
          <a:r>
            <a:rPr lang="en-IN" dirty="0" smtClean="0"/>
            <a:t>User Input</a:t>
          </a:r>
          <a:endParaRPr lang="en-IN" dirty="0"/>
        </a:p>
      </dgm:t>
    </dgm:pt>
    <dgm:pt modelId="{57A29F34-0CBF-4CDA-979A-CA8494F8F888}" type="parTrans" cxnId="{0DFD4C15-E16D-46C7-8D2C-297A021E95B2}">
      <dgm:prSet/>
      <dgm:spPr/>
      <dgm:t>
        <a:bodyPr/>
        <a:lstStyle/>
        <a:p>
          <a:endParaRPr lang="en-IN"/>
        </a:p>
      </dgm:t>
    </dgm:pt>
    <dgm:pt modelId="{A7EA2D00-E88A-403D-99A8-41F1868F89CB}" type="sibTrans" cxnId="{0DFD4C15-E16D-46C7-8D2C-297A021E95B2}">
      <dgm:prSet/>
      <dgm:spPr/>
      <dgm:t>
        <a:bodyPr/>
        <a:lstStyle/>
        <a:p>
          <a:endParaRPr lang="en-IN"/>
        </a:p>
      </dgm:t>
    </dgm:pt>
    <dgm:pt modelId="{CB7A44B0-DF83-4306-877B-D32FD91D55A3}">
      <dgm:prSet/>
      <dgm:spPr/>
      <dgm:t>
        <a:bodyPr/>
        <a:lstStyle/>
        <a:p>
          <a:pPr rtl="0"/>
          <a:r>
            <a:rPr lang="en-IN" dirty="0" smtClean="0"/>
            <a:t>Data Processing</a:t>
          </a:r>
          <a:endParaRPr lang="en-IN" dirty="0"/>
        </a:p>
      </dgm:t>
    </dgm:pt>
    <dgm:pt modelId="{E320AC84-CC46-4945-9852-B89A72F64F3C}" type="parTrans" cxnId="{D7981E41-B6CA-4546-84A4-544181A5FFA4}">
      <dgm:prSet/>
      <dgm:spPr/>
      <dgm:t>
        <a:bodyPr/>
        <a:lstStyle/>
        <a:p>
          <a:endParaRPr lang="en-IN"/>
        </a:p>
      </dgm:t>
    </dgm:pt>
    <dgm:pt modelId="{1A345115-C7C3-4C90-BA95-FB98ADCC31D0}" type="sibTrans" cxnId="{D7981E41-B6CA-4546-84A4-544181A5FFA4}">
      <dgm:prSet/>
      <dgm:spPr/>
      <dgm:t>
        <a:bodyPr/>
        <a:lstStyle/>
        <a:p>
          <a:endParaRPr lang="en-IN"/>
        </a:p>
      </dgm:t>
    </dgm:pt>
    <dgm:pt modelId="{6AB0F6AB-BAFF-41C1-B275-A243F2583FCE}">
      <dgm:prSet/>
      <dgm:spPr/>
      <dgm:t>
        <a:bodyPr/>
        <a:lstStyle/>
        <a:p>
          <a:pPr rtl="0"/>
          <a:r>
            <a:rPr lang="en-IN" dirty="0" smtClean="0"/>
            <a:t>Prediction</a:t>
          </a:r>
          <a:endParaRPr lang="en-IN" dirty="0"/>
        </a:p>
      </dgm:t>
    </dgm:pt>
    <dgm:pt modelId="{3B328A09-C04D-4897-80D4-A41EFF082271}" type="parTrans" cxnId="{FC785FA4-60AD-4097-A0C7-4EF13612C65F}">
      <dgm:prSet/>
      <dgm:spPr/>
      <dgm:t>
        <a:bodyPr/>
        <a:lstStyle/>
        <a:p>
          <a:endParaRPr lang="en-IN"/>
        </a:p>
      </dgm:t>
    </dgm:pt>
    <dgm:pt modelId="{A393B91C-AAF7-4A26-B398-976EA4864F52}" type="sibTrans" cxnId="{FC785FA4-60AD-4097-A0C7-4EF13612C65F}">
      <dgm:prSet/>
      <dgm:spPr/>
      <dgm:t>
        <a:bodyPr/>
        <a:lstStyle/>
        <a:p>
          <a:endParaRPr lang="en-IN"/>
        </a:p>
      </dgm:t>
    </dgm:pt>
    <dgm:pt modelId="{CC6C0CE5-B190-49BC-A2E0-971FF1B6C162}">
      <dgm:prSet/>
      <dgm:spPr/>
      <dgm:t>
        <a:bodyPr/>
        <a:lstStyle/>
        <a:p>
          <a:pPr rtl="0"/>
          <a:r>
            <a:rPr lang="en-IN" dirty="0" smtClean="0"/>
            <a:t>Gap Analysis</a:t>
          </a:r>
          <a:endParaRPr lang="en-IN" dirty="0"/>
        </a:p>
      </dgm:t>
    </dgm:pt>
    <dgm:pt modelId="{16DC6B47-48E5-4974-9A91-ACA8801514E6}" type="parTrans" cxnId="{053CC6FD-BC76-4890-802B-DADACAEBE538}">
      <dgm:prSet/>
      <dgm:spPr/>
      <dgm:t>
        <a:bodyPr/>
        <a:lstStyle/>
        <a:p>
          <a:endParaRPr lang="en-IN"/>
        </a:p>
      </dgm:t>
    </dgm:pt>
    <dgm:pt modelId="{5100DED7-0A12-4870-8B51-7F63FE98E8DE}" type="sibTrans" cxnId="{053CC6FD-BC76-4890-802B-DADACAEBE538}">
      <dgm:prSet/>
      <dgm:spPr/>
      <dgm:t>
        <a:bodyPr/>
        <a:lstStyle/>
        <a:p>
          <a:endParaRPr lang="en-IN"/>
        </a:p>
      </dgm:t>
    </dgm:pt>
    <dgm:pt modelId="{2F8A2EC3-D06B-4803-8611-1EE980D7F298}">
      <dgm:prSet/>
      <dgm:spPr/>
      <dgm:t>
        <a:bodyPr/>
        <a:lstStyle/>
        <a:p>
          <a:pPr rtl="0"/>
          <a:r>
            <a:rPr lang="en-IN" dirty="0" smtClean="0"/>
            <a:t>Course Recommendation</a:t>
          </a:r>
          <a:endParaRPr lang="en-IN" dirty="0"/>
        </a:p>
      </dgm:t>
    </dgm:pt>
    <dgm:pt modelId="{E6324A5B-DFD2-4460-AEC5-2BD71C9DE2CF}" type="parTrans" cxnId="{3C8B1F47-A8C4-4D40-8452-7BA91C5067DE}">
      <dgm:prSet/>
      <dgm:spPr/>
      <dgm:t>
        <a:bodyPr/>
        <a:lstStyle/>
        <a:p>
          <a:endParaRPr lang="en-IN"/>
        </a:p>
      </dgm:t>
    </dgm:pt>
    <dgm:pt modelId="{2BA9EF19-06FC-49BD-9A23-F8DA891C1C02}" type="sibTrans" cxnId="{3C8B1F47-A8C4-4D40-8452-7BA91C5067DE}">
      <dgm:prSet/>
      <dgm:spPr/>
      <dgm:t>
        <a:bodyPr/>
        <a:lstStyle/>
        <a:p>
          <a:endParaRPr lang="en-IN"/>
        </a:p>
      </dgm:t>
    </dgm:pt>
    <dgm:pt modelId="{C8E1D4AC-F4CA-4C20-BAF8-5345500486BF}">
      <dgm:prSet/>
      <dgm:spPr/>
      <dgm:t>
        <a:bodyPr/>
        <a:lstStyle/>
        <a:p>
          <a:pPr rtl="0"/>
          <a:r>
            <a:rPr lang="en-IN" dirty="0" smtClean="0"/>
            <a:t>Output</a:t>
          </a:r>
          <a:endParaRPr lang="en-IN" dirty="0"/>
        </a:p>
      </dgm:t>
    </dgm:pt>
    <dgm:pt modelId="{042FDAAF-AD07-4F3D-BC3A-D4AEBD506251}" type="parTrans" cxnId="{A7F97B92-70C0-4D89-A9C9-BB4336321BD3}">
      <dgm:prSet/>
      <dgm:spPr/>
      <dgm:t>
        <a:bodyPr/>
        <a:lstStyle/>
        <a:p>
          <a:endParaRPr lang="en-IN"/>
        </a:p>
      </dgm:t>
    </dgm:pt>
    <dgm:pt modelId="{011FD3D2-887C-4242-A449-3F623BB7A8EC}" type="sibTrans" cxnId="{A7F97B92-70C0-4D89-A9C9-BB4336321BD3}">
      <dgm:prSet/>
      <dgm:spPr/>
      <dgm:t>
        <a:bodyPr/>
        <a:lstStyle/>
        <a:p>
          <a:endParaRPr lang="en-IN"/>
        </a:p>
      </dgm:t>
    </dgm:pt>
    <dgm:pt modelId="{ABB2BE67-6C80-42FB-8A8A-2FED2D819800}" type="pres">
      <dgm:prSet presAssocID="{4D4BBE70-290C-47A9-87E2-BBCB0174A44F}" presName="Name0" presStyleCnt="0">
        <dgm:presLayoutVars>
          <dgm:dir/>
          <dgm:resizeHandles val="exact"/>
        </dgm:presLayoutVars>
      </dgm:prSet>
      <dgm:spPr/>
      <dgm:t>
        <a:bodyPr/>
        <a:lstStyle/>
        <a:p>
          <a:endParaRPr lang="en-IN"/>
        </a:p>
      </dgm:t>
    </dgm:pt>
    <dgm:pt modelId="{645C8E70-3953-47DE-AF46-B984A00B83CC}" type="pres">
      <dgm:prSet presAssocID="{495AB0B2-4AA9-4C40-A437-BDA3084010CB}" presName="node" presStyleLbl="node1" presStyleIdx="0" presStyleCnt="6">
        <dgm:presLayoutVars>
          <dgm:bulletEnabled val="1"/>
        </dgm:presLayoutVars>
      </dgm:prSet>
      <dgm:spPr/>
      <dgm:t>
        <a:bodyPr/>
        <a:lstStyle/>
        <a:p>
          <a:endParaRPr lang="en-IN"/>
        </a:p>
      </dgm:t>
    </dgm:pt>
    <dgm:pt modelId="{A78F0835-19E7-4CF8-8578-69E8AEDF55A6}" type="pres">
      <dgm:prSet presAssocID="{A7EA2D00-E88A-403D-99A8-41F1868F89CB}" presName="sibTrans" presStyleLbl="sibTrans2D1" presStyleIdx="0" presStyleCnt="5"/>
      <dgm:spPr/>
      <dgm:t>
        <a:bodyPr/>
        <a:lstStyle/>
        <a:p>
          <a:endParaRPr lang="en-IN"/>
        </a:p>
      </dgm:t>
    </dgm:pt>
    <dgm:pt modelId="{5C48BC31-FFE1-41DD-B469-0F8D5AE2E930}" type="pres">
      <dgm:prSet presAssocID="{A7EA2D00-E88A-403D-99A8-41F1868F89CB}" presName="connectorText" presStyleLbl="sibTrans2D1" presStyleIdx="0" presStyleCnt="5"/>
      <dgm:spPr/>
      <dgm:t>
        <a:bodyPr/>
        <a:lstStyle/>
        <a:p>
          <a:endParaRPr lang="en-IN"/>
        </a:p>
      </dgm:t>
    </dgm:pt>
    <dgm:pt modelId="{04F61793-FAE6-4087-AFB0-EC2FF9A2ECD0}" type="pres">
      <dgm:prSet presAssocID="{CB7A44B0-DF83-4306-877B-D32FD91D55A3}" presName="node" presStyleLbl="node1" presStyleIdx="1" presStyleCnt="6">
        <dgm:presLayoutVars>
          <dgm:bulletEnabled val="1"/>
        </dgm:presLayoutVars>
      </dgm:prSet>
      <dgm:spPr/>
      <dgm:t>
        <a:bodyPr/>
        <a:lstStyle/>
        <a:p>
          <a:endParaRPr lang="en-IN"/>
        </a:p>
      </dgm:t>
    </dgm:pt>
    <dgm:pt modelId="{7120C3F9-43F3-4FB5-9419-F665F5057152}" type="pres">
      <dgm:prSet presAssocID="{1A345115-C7C3-4C90-BA95-FB98ADCC31D0}" presName="sibTrans" presStyleLbl="sibTrans2D1" presStyleIdx="1" presStyleCnt="5"/>
      <dgm:spPr/>
      <dgm:t>
        <a:bodyPr/>
        <a:lstStyle/>
        <a:p>
          <a:endParaRPr lang="en-IN"/>
        </a:p>
      </dgm:t>
    </dgm:pt>
    <dgm:pt modelId="{FBAD05BF-D0B9-44AF-A8E4-21842FBDDB50}" type="pres">
      <dgm:prSet presAssocID="{1A345115-C7C3-4C90-BA95-FB98ADCC31D0}" presName="connectorText" presStyleLbl="sibTrans2D1" presStyleIdx="1" presStyleCnt="5"/>
      <dgm:spPr/>
      <dgm:t>
        <a:bodyPr/>
        <a:lstStyle/>
        <a:p>
          <a:endParaRPr lang="en-IN"/>
        </a:p>
      </dgm:t>
    </dgm:pt>
    <dgm:pt modelId="{B982B81D-278C-4C96-9EC1-432B6D24C452}" type="pres">
      <dgm:prSet presAssocID="{6AB0F6AB-BAFF-41C1-B275-A243F2583FCE}" presName="node" presStyleLbl="node1" presStyleIdx="2" presStyleCnt="6">
        <dgm:presLayoutVars>
          <dgm:bulletEnabled val="1"/>
        </dgm:presLayoutVars>
      </dgm:prSet>
      <dgm:spPr/>
      <dgm:t>
        <a:bodyPr/>
        <a:lstStyle/>
        <a:p>
          <a:endParaRPr lang="en-IN"/>
        </a:p>
      </dgm:t>
    </dgm:pt>
    <dgm:pt modelId="{9FB65D06-A065-4565-AC4C-7ECF57234E4B}" type="pres">
      <dgm:prSet presAssocID="{A393B91C-AAF7-4A26-B398-976EA4864F52}" presName="sibTrans" presStyleLbl="sibTrans2D1" presStyleIdx="2" presStyleCnt="5"/>
      <dgm:spPr/>
      <dgm:t>
        <a:bodyPr/>
        <a:lstStyle/>
        <a:p>
          <a:endParaRPr lang="en-IN"/>
        </a:p>
      </dgm:t>
    </dgm:pt>
    <dgm:pt modelId="{93FDCD60-3A34-44B1-BD63-E3C1608A9461}" type="pres">
      <dgm:prSet presAssocID="{A393B91C-AAF7-4A26-B398-976EA4864F52}" presName="connectorText" presStyleLbl="sibTrans2D1" presStyleIdx="2" presStyleCnt="5"/>
      <dgm:spPr/>
      <dgm:t>
        <a:bodyPr/>
        <a:lstStyle/>
        <a:p>
          <a:endParaRPr lang="en-IN"/>
        </a:p>
      </dgm:t>
    </dgm:pt>
    <dgm:pt modelId="{36015F5D-F885-4303-965A-21704550D81C}" type="pres">
      <dgm:prSet presAssocID="{CC6C0CE5-B190-49BC-A2E0-971FF1B6C162}" presName="node" presStyleLbl="node1" presStyleIdx="3" presStyleCnt="6">
        <dgm:presLayoutVars>
          <dgm:bulletEnabled val="1"/>
        </dgm:presLayoutVars>
      </dgm:prSet>
      <dgm:spPr/>
      <dgm:t>
        <a:bodyPr/>
        <a:lstStyle/>
        <a:p>
          <a:endParaRPr lang="en-IN"/>
        </a:p>
      </dgm:t>
    </dgm:pt>
    <dgm:pt modelId="{AB9465B2-3C65-4F3E-B3E8-DF728E38669F}" type="pres">
      <dgm:prSet presAssocID="{5100DED7-0A12-4870-8B51-7F63FE98E8DE}" presName="sibTrans" presStyleLbl="sibTrans2D1" presStyleIdx="3" presStyleCnt="5"/>
      <dgm:spPr/>
      <dgm:t>
        <a:bodyPr/>
        <a:lstStyle/>
        <a:p>
          <a:endParaRPr lang="en-IN"/>
        </a:p>
      </dgm:t>
    </dgm:pt>
    <dgm:pt modelId="{88D32948-5EBD-44A8-B476-DB3AB452DFBF}" type="pres">
      <dgm:prSet presAssocID="{5100DED7-0A12-4870-8B51-7F63FE98E8DE}" presName="connectorText" presStyleLbl="sibTrans2D1" presStyleIdx="3" presStyleCnt="5"/>
      <dgm:spPr/>
      <dgm:t>
        <a:bodyPr/>
        <a:lstStyle/>
        <a:p>
          <a:endParaRPr lang="en-IN"/>
        </a:p>
      </dgm:t>
    </dgm:pt>
    <dgm:pt modelId="{B59ACC9C-00B9-4EDF-8110-090BA91EA88F}" type="pres">
      <dgm:prSet presAssocID="{2F8A2EC3-D06B-4803-8611-1EE980D7F298}" presName="node" presStyleLbl="node1" presStyleIdx="4" presStyleCnt="6">
        <dgm:presLayoutVars>
          <dgm:bulletEnabled val="1"/>
        </dgm:presLayoutVars>
      </dgm:prSet>
      <dgm:spPr/>
      <dgm:t>
        <a:bodyPr/>
        <a:lstStyle/>
        <a:p>
          <a:endParaRPr lang="en-IN"/>
        </a:p>
      </dgm:t>
    </dgm:pt>
    <dgm:pt modelId="{74BEEF13-B315-4239-AF6E-31E7C168890C}" type="pres">
      <dgm:prSet presAssocID="{2BA9EF19-06FC-49BD-9A23-F8DA891C1C02}" presName="sibTrans" presStyleLbl="sibTrans2D1" presStyleIdx="4" presStyleCnt="5"/>
      <dgm:spPr/>
      <dgm:t>
        <a:bodyPr/>
        <a:lstStyle/>
        <a:p>
          <a:endParaRPr lang="en-IN"/>
        </a:p>
      </dgm:t>
    </dgm:pt>
    <dgm:pt modelId="{02D2F884-09C9-42D8-BF0B-A0D7AB4DA94F}" type="pres">
      <dgm:prSet presAssocID="{2BA9EF19-06FC-49BD-9A23-F8DA891C1C02}" presName="connectorText" presStyleLbl="sibTrans2D1" presStyleIdx="4" presStyleCnt="5"/>
      <dgm:spPr/>
      <dgm:t>
        <a:bodyPr/>
        <a:lstStyle/>
        <a:p>
          <a:endParaRPr lang="en-IN"/>
        </a:p>
      </dgm:t>
    </dgm:pt>
    <dgm:pt modelId="{CB548AD3-5B7B-4DAC-AE76-179F72223CB7}" type="pres">
      <dgm:prSet presAssocID="{C8E1D4AC-F4CA-4C20-BAF8-5345500486BF}" presName="node" presStyleLbl="node1" presStyleIdx="5" presStyleCnt="6">
        <dgm:presLayoutVars>
          <dgm:bulletEnabled val="1"/>
        </dgm:presLayoutVars>
      </dgm:prSet>
      <dgm:spPr/>
      <dgm:t>
        <a:bodyPr/>
        <a:lstStyle/>
        <a:p>
          <a:endParaRPr lang="en-IN"/>
        </a:p>
      </dgm:t>
    </dgm:pt>
  </dgm:ptLst>
  <dgm:cxnLst>
    <dgm:cxn modelId="{255F76F1-D364-406A-B794-67111B951497}" type="presOf" srcId="{5100DED7-0A12-4870-8B51-7F63FE98E8DE}" destId="{88D32948-5EBD-44A8-B476-DB3AB452DFBF}" srcOrd="1" destOrd="0" presId="urn:microsoft.com/office/officeart/2005/8/layout/process1"/>
    <dgm:cxn modelId="{0DFD4C15-E16D-46C7-8D2C-297A021E95B2}" srcId="{4D4BBE70-290C-47A9-87E2-BBCB0174A44F}" destId="{495AB0B2-4AA9-4C40-A437-BDA3084010CB}" srcOrd="0" destOrd="0" parTransId="{57A29F34-0CBF-4CDA-979A-CA8494F8F888}" sibTransId="{A7EA2D00-E88A-403D-99A8-41F1868F89CB}"/>
    <dgm:cxn modelId="{6FE74D24-E5C8-4784-B782-C0BB4C49F8E5}" type="presOf" srcId="{4D4BBE70-290C-47A9-87E2-BBCB0174A44F}" destId="{ABB2BE67-6C80-42FB-8A8A-2FED2D819800}" srcOrd="0" destOrd="0" presId="urn:microsoft.com/office/officeart/2005/8/layout/process1"/>
    <dgm:cxn modelId="{73C54EA9-8D17-4964-A10B-74CB4813EF50}" type="presOf" srcId="{6AB0F6AB-BAFF-41C1-B275-A243F2583FCE}" destId="{B982B81D-278C-4C96-9EC1-432B6D24C452}" srcOrd="0" destOrd="0" presId="urn:microsoft.com/office/officeart/2005/8/layout/process1"/>
    <dgm:cxn modelId="{D7981E41-B6CA-4546-84A4-544181A5FFA4}" srcId="{4D4BBE70-290C-47A9-87E2-BBCB0174A44F}" destId="{CB7A44B0-DF83-4306-877B-D32FD91D55A3}" srcOrd="1" destOrd="0" parTransId="{E320AC84-CC46-4945-9852-B89A72F64F3C}" sibTransId="{1A345115-C7C3-4C90-BA95-FB98ADCC31D0}"/>
    <dgm:cxn modelId="{244440C6-139A-486A-A45B-DD1716CE5988}" type="presOf" srcId="{A393B91C-AAF7-4A26-B398-976EA4864F52}" destId="{93FDCD60-3A34-44B1-BD63-E3C1608A9461}" srcOrd="1" destOrd="0" presId="urn:microsoft.com/office/officeart/2005/8/layout/process1"/>
    <dgm:cxn modelId="{E8865E92-34AD-4E7F-ACC3-B626E674C9D2}" type="presOf" srcId="{5100DED7-0A12-4870-8B51-7F63FE98E8DE}" destId="{AB9465B2-3C65-4F3E-B3E8-DF728E38669F}" srcOrd="0" destOrd="0" presId="urn:microsoft.com/office/officeart/2005/8/layout/process1"/>
    <dgm:cxn modelId="{053CC6FD-BC76-4890-802B-DADACAEBE538}" srcId="{4D4BBE70-290C-47A9-87E2-BBCB0174A44F}" destId="{CC6C0CE5-B190-49BC-A2E0-971FF1B6C162}" srcOrd="3" destOrd="0" parTransId="{16DC6B47-48E5-4974-9A91-ACA8801514E6}" sibTransId="{5100DED7-0A12-4870-8B51-7F63FE98E8DE}"/>
    <dgm:cxn modelId="{769F670D-048D-4B5F-9BEE-343DB9EADE73}" type="presOf" srcId="{2BA9EF19-06FC-49BD-9A23-F8DA891C1C02}" destId="{02D2F884-09C9-42D8-BF0B-A0D7AB4DA94F}" srcOrd="1" destOrd="0" presId="urn:microsoft.com/office/officeart/2005/8/layout/process1"/>
    <dgm:cxn modelId="{44DCE332-11E5-479A-B9DF-DB8EEC949B56}" type="presOf" srcId="{495AB0B2-4AA9-4C40-A437-BDA3084010CB}" destId="{645C8E70-3953-47DE-AF46-B984A00B83CC}" srcOrd="0" destOrd="0" presId="urn:microsoft.com/office/officeart/2005/8/layout/process1"/>
    <dgm:cxn modelId="{9A5D2B68-2821-4644-8CF3-E7033B4FFF58}" type="presOf" srcId="{C8E1D4AC-F4CA-4C20-BAF8-5345500486BF}" destId="{CB548AD3-5B7B-4DAC-AE76-179F72223CB7}" srcOrd="0" destOrd="0" presId="urn:microsoft.com/office/officeart/2005/8/layout/process1"/>
    <dgm:cxn modelId="{BE8886E8-E05D-4B1B-94D9-99FEFF8B651F}" type="presOf" srcId="{A7EA2D00-E88A-403D-99A8-41F1868F89CB}" destId="{A78F0835-19E7-4CF8-8578-69E8AEDF55A6}" srcOrd="0" destOrd="0" presId="urn:microsoft.com/office/officeart/2005/8/layout/process1"/>
    <dgm:cxn modelId="{60C6348F-A761-475A-A79C-20FAF2F88156}" type="presOf" srcId="{CB7A44B0-DF83-4306-877B-D32FD91D55A3}" destId="{04F61793-FAE6-4087-AFB0-EC2FF9A2ECD0}" srcOrd="0" destOrd="0" presId="urn:microsoft.com/office/officeart/2005/8/layout/process1"/>
    <dgm:cxn modelId="{8398FDC2-5BD6-499D-9F55-4C905EBCDBE0}" type="presOf" srcId="{2F8A2EC3-D06B-4803-8611-1EE980D7F298}" destId="{B59ACC9C-00B9-4EDF-8110-090BA91EA88F}" srcOrd="0" destOrd="0" presId="urn:microsoft.com/office/officeart/2005/8/layout/process1"/>
    <dgm:cxn modelId="{5D802521-F798-4396-BF17-D5C74EC91A51}" type="presOf" srcId="{A7EA2D00-E88A-403D-99A8-41F1868F89CB}" destId="{5C48BC31-FFE1-41DD-B469-0F8D5AE2E930}" srcOrd="1" destOrd="0" presId="urn:microsoft.com/office/officeart/2005/8/layout/process1"/>
    <dgm:cxn modelId="{FC785FA4-60AD-4097-A0C7-4EF13612C65F}" srcId="{4D4BBE70-290C-47A9-87E2-BBCB0174A44F}" destId="{6AB0F6AB-BAFF-41C1-B275-A243F2583FCE}" srcOrd="2" destOrd="0" parTransId="{3B328A09-C04D-4897-80D4-A41EFF082271}" sibTransId="{A393B91C-AAF7-4A26-B398-976EA4864F52}"/>
    <dgm:cxn modelId="{6F48C2F4-3934-4B69-B6B5-DC800372B63F}" type="presOf" srcId="{1A345115-C7C3-4C90-BA95-FB98ADCC31D0}" destId="{FBAD05BF-D0B9-44AF-A8E4-21842FBDDB50}" srcOrd="1" destOrd="0" presId="urn:microsoft.com/office/officeart/2005/8/layout/process1"/>
    <dgm:cxn modelId="{A7F97B92-70C0-4D89-A9C9-BB4336321BD3}" srcId="{4D4BBE70-290C-47A9-87E2-BBCB0174A44F}" destId="{C8E1D4AC-F4CA-4C20-BAF8-5345500486BF}" srcOrd="5" destOrd="0" parTransId="{042FDAAF-AD07-4F3D-BC3A-D4AEBD506251}" sibTransId="{011FD3D2-887C-4242-A449-3F623BB7A8EC}"/>
    <dgm:cxn modelId="{595D1576-0DF9-4D29-9FD7-4C0B33889F19}" type="presOf" srcId="{1A345115-C7C3-4C90-BA95-FB98ADCC31D0}" destId="{7120C3F9-43F3-4FB5-9419-F665F5057152}" srcOrd="0" destOrd="0" presId="urn:microsoft.com/office/officeart/2005/8/layout/process1"/>
    <dgm:cxn modelId="{1C191F5F-4CE1-403C-931F-472495B511B8}" type="presOf" srcId="{A393B91C-AAF7-4A26-B398-976EA4864F52}" destId="{9FB65D06-A065-4565-AC4C-7ECF57234E4B}" srcOrd="0" destOrd="0" presId="urn:microsoft.com/office/officeart/2005/8/layout/process1"/>
    <dgm:cxn modelId="{0336F6AA-5155-4EB7-9F6F-185EC85AF62E}" type="presOf" srcId="{CC6C0CE5-B190-49BC-A2E0-971FF1B6C162}" destId="{36015F5D-F885-4303-965A-21704550D81C}" srcOrd="0" destOrd="0" presId="urn:microsoft.com/office/officeart/2005/8/layout/process1"/>
    <dgm:cxn modelId="{FA47E598-A3D1-4261-B81B-B3D7D4C59551}" type="presOf" srcId="{2BA9EF19-06FC-49BD-9A23-F8DA891C1C02}" destId="{74BEEF13-B315-4239-AF6E-31E7C168890C}" srcOrd="0" destOrd="0" presId="urn:microsoft.com/office/officeart/2005/8/layout/process1"/>
    <dgm:cxn modelId="{3C8B1F47-A8C4-4D40-8452-7BA91C5067DE}" srcId="{4D4BBE70-290C-47A9-87E2-BBCB0174A44F}" destId="{2F8A2EC3-D06B-4803-8611-1EE980D7F298}" srcOrd="4" destOrd="0" parTransId="{E6324A5B-DFD2-4460-AEC5-2BD71C9DE2CF}" sibTransId="{2BA9EF19-06FC-49BD-9A23-F8DA891C1C02}"/>
    <dgm:cxn modelId="{BA49B035-BB2A-474E-813E-4E0CF47CF714}" type="presParOf" srcId="{ABB2BE67-6C80-42FB-8A8A-2FED2D819800}" destId="{645C8E70-3953-47DE-AF46-B984A00B83CC}" srcOrd="0" destOrd="0" presId="urn:microsoft.com/office/officeart/2005/8/layout/process1"/>
    <dgm:cxn modelId="{69FEDFE9-ED76-407D-B5D7-54EA34DB5799}" type="presParOf" srcId="{ABB2BE67-6C80-42FB-8A8A-2FED2D819800}" destId="{A78F0835-19E7-4CF8-8578-69E8AEDF55A6}" srcOrd="1" destOrd="0" presId="urn:microsoft.com/office/officeart/2005/8/layout/process1"/>
    <dgm:cxn modelId="{998276FE-DCE5-483A-81FD-8C1A3D24736B}" type="presParOf" srcId="{A78F0835-19E7-4CF8-8578-69E8AEDF55A6}" destId="{5C48BC31-FFE1-41DD-B469-0F8D5AE2E930}" srcOrd="0" destOrd="0" presId="urn:microsoft.com/office/officeart/2005/8/layout/process1"/>
    <dgm:cxn modelId="{E6232C05-8908-441D-9E94-839645F5F5D0}" type="presParOf" srcId="{ABB2BE67-6C80-42FB-8A8A-2FED2D819800}" destId="{04F61793-FAE6-4087-AFB0-EC2FF9A2ECD0}" srcOrd="2" destOrd="0" presId="urn:microsoft.com/office/officeart/2005/8/layout/process1"/>
    <dgm:cxn modelId="{D07B62C8-5390-4ACD-9A4F-88F0A1060FF0}" type="presParOf" srcId="{ABB2BE67-6C80-42FB-8A8A-2FED2D819800}" destId="{7120C3F9-43F3-4FB5-9419-F665F5057152}" srcOrd="3" destOrd="0" presId="urn:microsoft.com/office/officeart/2005/8/layout/process1"/>
    <dgm:cxn modelId="{937C2854-CE7C-4339-AD2D-BCBE3634F3E4}" type="presParOf" srcId="{7120C3F9-43F3-4FB5-9419-F665F5057152}" destId="{FBAD05BF-D0B9-44AF-A8E4-21842FBDDB50}" srcOrd="0" destOrd="0" presId="urn:microsoft.com/office/officeart/2005/8/layout/process1"/>
    <dgm:cxn modelId="{DC90FC2A-9872-4841-84E9-8967ED8FAF24}" type="presParOf" srcId="{ABB2BE67-6C80-42FB-8A8A-2FED2D819800}" destId="{B982B81D-278C-4C96-9EC1-432B6D24C452}" srcOrd="4" destOrd="0" presId="urn:microsoft.com/office/officeart/2005/8/layout/process1"/>
    <dgm:cxn modelId="{3AAF6DE6-38E9-4C72-B851-18C884A759E8}" type="presParOf" srcId="{ABB2BE67-6C80-42FB-8A8A-2FED2D819800}" destId="{9FB65D06-A065-4565-AC4C-7ECF57234E4B}" srcOrd="5" destOrd="0" presId="urn:microsoft.com/office/officeart/2005/8/layout/process1"/>
    <dgm:cxn modelId="{9FDAFE83-B58A-4A1C-B19B-566221AE318A}" type="presParOf" srcId="{9FB65D06-A065-4565-AC4C-7ECF57234E4B}" destId="{93FDCD60-3A34-44B1-BD63-E3C1608A9461}" srcOrd="0" destOrd="0" presId="urn:microsoft.com/office/officeart/2005/8/layout/process1"/>
    <dgm:cxn modelId="{8B57E329-4292-454A-AA3F-848FE50AEA5B}" type="presParOf" srcId="{ABB2BE67-6C80-42FB-8A8A-2FED2D819800}" destId="{36015F5D-F885-4303-965A-21704550D81C}" srcOrd="6" destOrd="0" presId="urn:microsoft.com/office/officeart/2005/8/layout/process1"/>
    <dgm:cxn modelId="{2DF16CF8-EE7A-4E0C-AD2A-0626B932AE28}" type="presParOf" srcId="{ABB2BE67-6C80-42FB-8A8A-2FED2D819800}" destId="{AB9465B2-3C65-4F3E-B3E8-DF728E38669F}" srcOrd="7" destOrd="0" presId="urn:microsoft.com/office/officeart/2005/8/layout/process1"/>
    <dgm:cxn modelId="{CCD5CB5B-9F35-4E03-BA8C-1C34EEA6523E}" type="presParOf" srcId="{AB9465B2-3C65-4F3E-B3E8-DF728E38669F}" destId="{88D32948-5EBD-44A8-B476-DB3AB452DFBF}" srcOrd="0" destOrd="0" presId="urn:microsoft.com/office/officeart/2005/8/layout/process1"/>
    <dgm:cxn modelId="{394DB5C0-E8A7-46A0-8257-E11E1386948B}" type="presParOf" srcId="{ABB2BE67-6C80-42FB-8A8A-2FED2D819800}" destId="{B59ACC9C-00B9-4EDF-8110-090BA91EA88F}" srcOrd="8" destOrd="0" presId="urn:microsoft.com/office/officeart/2005/8/layout/process1"/>
    <dgm:cxn modelId="{823D9D2F-E801-4431-B56D-BDD4FBCFE0D9}" type="presParOf" srcId="{ABB2BE67-6C80-42FB-8A8A-2FED2D819800}" destId="{74BEEF13-B315-4239-AF6E-31E7C168890C}" srcOrd="9" destOrd="0" presId="urn:microsoft.com/office/officeart/2005/8/layout/process1"/>
    <dgm:cxn modelId="{C6330FD2-FE35-4FDA-BF09-2B0256E25BF9}" type="presParOf" srcId="{74BEEF13-B315-4239-AF6E-31E7C168890C}" destId="{02D2F884-09C9-42D8-BF0B-A0D7AB4DA94F}" srcOrd="0" destOrd="0" presId="urn:microsoft.com/office/officeart/2005/8/layout/process1"/>
    <dgm:cxn modelId="{FBC99849-C926-4881-8E2E-5903F82AE213}" type="presParOf" srcId="{ABB2BE67-6C80-42FB-8A8A-2FED2D819800}" destId="{CB548AD3-5B7B-4DAC-AE76-179F72223CB7}"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5C8E70-3953-47DE-AF46-B984A00B83CC}">
      <dsp:nvSpPr>
        <dsp:cNvPr id="0" name=""/>
        <dsp:cNvSpPr/>
      </dsp:nvSpPr>
      <dsp:spPr>
        <a:xfrm>
          <a:off x="0" y="1375827"/>
          <a:ext cx="987990" cy="592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rtl="0">
            <a:lnSpc>
              <a:spcPct val="90000"/>
            </a:lnSpc>
            <a:spcBef>
              <a:spcPct val="0"/>
            </a:spcBef>
            <a:spcAft>
              <a:spcPct val="35000"/>
            </a:spcAft>
          </a:pPr>
          <a:r>
            <a:rPr lang="en-IN" sz="800" kern="1200" dirty="0" smtClean="0"/>
            <a:t>User Input</a:t>
          </a:r>
          <a:endParaRPr lang="en-IN" sz="800" kern="1200" dirty="0"/>
        </a:p>
      </dsp:txBody>
      <dsp:txXfrm>
        <a:off x="17362" y="1393189"/>
        <a:ext cx="953266" cy="558070"/>
      </dsp:txXfrm>
    </dsp:sp>
    <dsp:sp modelId="{A78F0835-19E7-4CF8-8578-69E8AEDF55A6}">
      <dsp:nvSpPr>
        <dsp:cNvPr id="0" name=""/>
        <dsp:cNvSpPr/>
      </dsp:nvSpPr>
      <dsp:spPr>
        <a:xfrm>
          <a:off x="1086789" y="1549714"/>
          <a:ext cx="209453" cy="24502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en-IN" sz="600" kern="1200"/>
        </a:p>
      </dsp:txBody>
      <dsp:txXfrm>
        <a:off x="1086789" y="1598718"/>
        <a:ext cx="146617" cy="147013"/>
      </dsp:txXfrm>
    </dsp:sp>
    <dsp:sp modelId="{04F61793-FAE6-4087-AFB0-EC2FF9A2ECD0}">
      <dsp:nvSpPr>
        <dsp:cNvPr id="0" name=""/>
        <dsp:cNvSpPr/>
      </dsp:nvSpPr>
      <dsp:spPr>
        <a:xfrm>
          <a:off x="1383186" y="1375827"/>
          <a:ext cx="987990" cy="592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rtl="0">
            <a:lnSpc>
              <a:spcPct val="90000"/>
            </a:lnSpc>
            <a:spcBef>
              <a:spcPct val="0"/>
            </a:spcBef>
            <a:spcAft>
              <a:spcPct val="35000"/>
            </a:spcAft>
          </a:pPr>
          <a:r>
            <a:rPr lang="en-IN" sz="800" kern="1200" dirty="0" smtClean="0"/>
            <a:t>Data Processing</a:t>
          </a:r>
          <a:endParaRPr lang="en-IN" sz="800" kern="1200" dirty="0"/>
        </a:p>
      </dsp:txBody>
      <dsp:txXfrm>
        <a:off x="1400548" y="1393189"/>
        <a:ext cx="953266" cy="558070"/>
      </dsp:txXfrm>
    </dsp:sp>
    <dsp:sp modelId="{7120C3F9-43F3-4FB5-9419-F665F5057152}">
      <dsp:nvSpPr>
        <dsp:cNvPr id="0" name=""/>
        <dsp:cNvSpPr/>
      </dsp:nvSpPr>
      <dsp:spPr>
        <a:xfrm>
          <a:off x="2469975" y="1549714"/>
          <a:ext cx="209453" cy="24502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en-IN" sz="600" kern="1200"/>
        </a:p>
      </dsp:txBody>
      <dsp:txXfrm>
        <a:off x="2469975" y="1598718"/>
        <a:ext cx="146617" cy="147013"/>
      </dsp:txXfrm>
    </dsp:sp>
    <dsp:sp modelId="{B982B81D-278C-4C96-9EC1-432B6D24C452}">
      <dsp:nvSpPr>
        <dsp:cNvPr id="0" name=""/>
        <dsp:cNvSpPr/>
      </dsp:nvSpPr>
      <dsp:spPr>
        <a:xfrm>
          <a:off x="2766373" y="1375827"/>
          <a:ext cx="987990" cy="592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rtl="0">
            <a:lnSpc>
              <a:spcPct val="90000"/>
            </a:lnSpc>
            <a:spcBef>
              <a:spcPct val="0"/>
            </a:spcBef>
            <a:spcAft>
              <a:spcPct val="35000"/>
            </a:spcAft>
          </a:pPr>
          <a:r>
            <a:rPr lang="en-IN" sz="800" kern="1200" dirty="0" smtClean="0"/>
            <a:t>Prediction</a:t>
          </a:r>
          <a:endParaRPr lang="en-IN" sz="800" kern="1200" dirty="0"/>
        </a:p>
      </dsp:txBody>
      <dsp:txXfrm>
        <a:off x="2783735" y="1393189"/>
        <a:ext cx="953266" cy="558070"/>
      </dsp:txXfrm>
    </dsp:sp>
    <dsp:sp modelId="{9FB65D06-A065-4565-AC4C-7ECF57234E4B}">
      <dsp:nvSpPr>
        <dsp:cNvPr id="0" name=""/>
        <dsp:cNvSpPr/>
      </dsp:nvSpPr>
      <dsp:spPr>
        <a:xfrm>
          <a:off x="3853162" y="1549714"/>
          <a:ext cx="209453" cy="24502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en-IN" sz="600" kern="1200"/>
        </a:p>
      </dsp:txBody>
      <dsp:txXfrm>
        <a:off x="3853162" y="1598718"/>
        <a:ext cx="146617" cy="147013"/>
      </dsp:txXfrm>
    </dsp:sp>
    <dsp:sp modelId="{36015F5D-F885-4303-965A-21704550D81C}">
      <dsp:nvSpPr>
        <dsp:cNvPr id="0" name=""/>
        <dsp:cNvSpPr/>
      </dsp:nvSpPr>
      <dsp:spPr>
        <a:xfrm>
          <a:off x="4149559" y="1375827"/>
          <a:ext cx="987990" cy="592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rtl="0">
            <a:lnSpc>
              <a:spcPct val="90000"/>
            </a:lnSpc>
            <a:spcBef>
              <a:spcPct val="0"/>
            </a:spcBef>
            <a:spcAft>
              <a:spcPct val="35000"/>
            </a:spcAft>
          </a:pPr>
          <a:r>
            <a:rPr lang="en-IN" sz="800" kern="1200" dirty="0" smtClean="0"/>
            <a:t>Gap Analysis</a:t>
          </a:r>
          <a:endParaRPr lang="en-IN" sz="800" kern="1200" dirty="0"/>
        </a:p>
      </dsp:txBody>
      <dsp:txXfrm>
        <a:off x="4166921" y="1393189"/>
        <a:ext cx="953266" cy="558070"/>
      </dsp:txXfrm>
    </dsp:sp>
    <dsp:sp modelId="{AB9465B2-3C65-4F3E-B3E8-DF728E38669F}">
      <dsp:nvSpPr>
        <dsp:cNvPr id="0" name=""/>
        <dsp:cNvSpPr/>
      </dsp:nvSpPr>
      <dsp:spPr>
        <a:xfrm>
          <a:off x="5236348" y="1549714"/>
          <a:ext cx="209453" cy="24502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en-IN" sz="600" kern="1200"/>
        </a:p>
      </dsp:txBody>
      <dsp:txXfrm>
        <a:off x="5236348" y="1598718"/>
        <a:ext cx="146617" cy="147013"/>
      </dsp:txXfrm>
    </dsp:sp>
    <dsp:sp modelId="{B59ACC9C-00B9-4EDF-8110-090BA91EA88F}">
      <dsp:nvSpPr>
        <dsp:cNvPr id="0" name=""/>
        <dsp:cNvSpPr/>
      </dsp:nvSpPr>
      <dsp:spPr>
        <a:xfrm>
          <a:off x="5532746" y="1375827"/>
          <a:ext cx="987990" cy="592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rtl="0">
            <a:lnSpc>
              <a:spcPct val="90000"/>
            </a:lnSpc>
            <a:spcBef>
              <a:spcPct val="0"/>
            </a:spcBef>
            <a:spcAft>
              <a:spcPct val="35000"/>
            </a:spcAft>
          </a:pPr>
          <a:r>
            <a:rPr lang="en-IN" sz="800" kern="1200" dirty="0" smtClean="0"/>
            <a:t>Course Recommendation</a:t>
          </a:r>
          <a:endParaRPr lang="en-IN" sz="800" kern="1200" dirty="0"/>
        </a:p>
      </dsp:txBody>
      <dsp:txXfrm>
        <a:off x="5550108" y="1393189"/>
        <a:ext cx="953266" cy="558070"/>
      </dsp:txXfrm>
    </dsp:sp>
    <dsp:sp modelId="{74BEEF13-B315-4239-AF6E-31E7C168890C}">
      <dsp:nvSpPr>
        <dsp:cNvPr id="0" name=""/>
        <dsp:cNvSpPr/>
      </dsp:nvSpPr>
      <dsp:spPr>
        <a:xfrm>
          <a:off x="6619535" y="1549714"/>
          <a:ext cx="209453" cy="24502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en-IN" sz="600" kern="1200"/>
        </a:p>
      </dsp:txBody>
      <dsp:txXfrm>
        <a:off x="6619535" y="1598718"/>
        <a:ext cx="146617" cy="147013"/>
      </dsp:txXfrm>
    </dsp:sp>
    <dsp:sp modelId="{CB548AD3-5B7B-4DAC-AE76-179F72223CB7}">
      <dsp:nvSpPr>
        <dsp:cNvPr id="0" name=""/>
        <dsp:cNvSpPr/>
      </dsp:nvSpPr>
      <dsp:spPr>
        <a:xfrm>
          <a:off x="6915932" y="1375827"/>
          <a:ext cx="987990" cy="592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rtl="0">
            <a:lnSpc>
              <a:spcPct val="90000"/>
            </a:lnSpc>
            <a:spcBef>
              <a:spcPct val="0"/>
            </a:spcBef>
            <a:spcAft>
              <a:spcPct val="35000"/>
            </a:spcAft>
          </a:pPr>
          <a:r>
            <a:rPr lang="en-IN" sz="800" kern="1200" dirty="0" smtClean="0"/>
            <a:t>Output</a:t>
          </a:r>
          <a:endParaRPr lang="en-IN" sz="800" kern="1200" dirty="0"/>
        </a:p>
      </dsp:txBody>
      <dsp:txXfrm>
        <a:off x="6933294" y="1393189"/>
        <a:ext cx="953266" cy="55807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5/16/2026</a:t>
            </a:fld>
            <a:endParaRPr lang="en-US"/>
          </a:p>
        </p:txBody>
      </p:sp>
      <p:sp>
        <p:nvSpPr>
          <p:cNvPr id="4" name="Footer Placeholder 3">
            <a:extLst>
              <a:ext uri="{FF2B5EF4-FFF2-40B4-BE49-F238E27FC236}">
                <a16:creationId xmlns:a16="http://schemas.microsoft.com/office/drawing/2014/main" xmlns=""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xmlns=""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5/16/2026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xmlns=""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800"/>
              </a:spcBef>
              <a:spcAft>
                <a:spcPts val="500"/>
              </a:spcAft>
            </a:pPr>
            <a:r>
              <a:rPr lang="en-IN" b="1" dirty="0">
                <a:latin typeface="Times New Roman"/>
                <a:ea typeface="Times New Roman"/>
              </a:rPr>
              <a:t>SKILLGAP AI: A SMART SKILLING ASSESSMENT AND INDIVIDUALIZED COURSE RECOMMENDATION SYSTEM</a:t>
            </a:r>
            <a:endParaRPr lang="en-IN" dirty="0">
              <a:latin typeface="Times New Roman"/>
              <a:ea typeface="Times New Roman"/>
            </a:endParaRPr>
          </a:p>
          <a:p>
            <a:pPr algn="ctr">
              <a:lnSpc>
                <a:spcPct val="100000"/>
              </a:lnSpc>
              <a:spcBef>
                <a:spcPts val="400"/>
              </a:spcBef>
            </a:pPr>
            <a:r>
              <a:rPr lang="en-US" sz="2000" spc="-1" dirty="0" smtClean="0">
                <a:solidFill>
                  <a:srgbClr val="000000"/>
                </a:solidFill>
                <a:latin typeface="Times New Roman" panose="02020603050405020304" pitchFamily="18" charset="0"/>
                <a:ea typeface="MS PGothic"/>
                <a:cs typeface="Times New Roman" panose="02020603050405020304" pitchFamily="18" charset="0"/>
              </a:rPr>
              <a:t>Tanisha-2210992440</a:t>
            </a:r>
          </a:p>
          <a:p>
            <a:pPr algn="ctr">
              <a:lnSpc>
                <a:spcPct val="100000"/>
              </a:lnSpc>
              <a:spcBef>
                <a:spcPts val="400"/>
              </a:spcBef>
            </a:pPr>
            <a:r>
              <a:rPr lang="en-US" sz="2000" spc="-1" dirty="0" err="1" smtClean="0">
                <a:solidFill>
                  <a:srgbClr val="000000"/>
                </a:solidFill>
                <a:latin typeface="Times New Roman" panose="02020603050405020304" pitchFamily="18" charset="0"/>
                <a:ea typeface="MS PGothic"/>
                <a:cs typeface="Times New Roman" panose="02020603050405020304" pitchFamily="18" charset="0"/>
              </a:rPr>
              <a:t>Tanishq</a:t>
            </a:r>
            <a:r>
              <a:rPr lang="en-US" sz="2000" spc="-1" dirty="0" smtClean="0">
                <a:solidFill>
                  <a:srgbClr val="000000"/>
                </a:solidFill>
                <a:latin typeface="Times New Roman" panose="02020603050405020304" pitchFamily="18" charset="0"/>
                <a:ea typeface="MS PGothic"/>
                <a:cs typeface="Times New Roman" panose="02020603050405020304" pitchFamily="18" charset="0"/>
              </a:rPr>
              <a:t> </a:t>
            </a:r>
            <a:r>
              <a:rPr lang="en-US" sz="2000" spc="-1" dirty="0" err="1" smtClean="0">
                <a:solidFill>
                  <a:srgbClr val="000000"/>
                </a:solidFill>
                <a:latin typeface="Times New Roman" panose="02020603050405020304" pitchFamily="18" charset="0"/>
                <a:ea typeface="MS PGothic"/>
                <a:cs typeface="Times New Roman" panose="02020603050405020304" pitchFamily="18" charset="0"/>
              </a:rPr>
              <a:t>Chaudhary</a:t>
            </a:r>
            <a:r>
              <a:rPr lang="en-US" sz="2000" spc="-1" dirty="0">
                <a:solidFill>
                  <a:srgbClr val="000000"/>
                </a:solidFill>
                <a:latin typeface="Times New Roman" panose="02020603050405020304" pitchFamily="18" charset="0"/>
                <a:ea typeface="MS PGothic"/>
                <a:cs typeface="Times New Roman" panose="02020603050405020304" pitchFamily="18" charset="0"/>
              </a:rPr>
              <a:t> </a:t>
            </a:r>
            <a:r>
              <a:rPr lang="en-US" sz="2000" spc="-1" dirty="0" smtClean="0">
                <a:solidFill>
                  <a:srgbClr val="000000"/>
                </a:solidFill>
                <a:latin typeface="Times New Roman" panose="02020603050405020304" pitchFamily="18" charset="0"/>
                <a:ea typeface="MS PGothic"/>
                <a:cs typeface="Times New Roman" panose="02020603050405020304" pitchFamily="18" charset="0"/>
              </a:rPr>
              <a:t>– 2210992445</a:t>
            </a:r>
          </a:p>
          <a:p>
            <a:pPr algn="ctr">
              <a:lnSpc>
                <a:spcPct val="100000"/>
              </a:lnSpc>
              <a:spcBef>
                <a:spcPts val="400"/>
              </a:spcBef>
            </a:pPr>
            <a:r>
              <a:rPr lang="en-US" sz="2000" spc="-1" dirty="0" err="1" smtClean="0">
                <a:solidFill>
                  <a:srgbClr val="000000"/>
                </a:solidFill>
                <a:latin typeface="Times New Roman" panose="02020603050405020304" pitchFamily="18" charset="0"/>
                <a:ea typeface="MS PGothic"/>
                <a:cs typeface="Times New Roman" panose="02020603050405020304" pitchFamily="18" charset="0"/>
              </a:rPr>
              <a:t>Tanmay</a:t>
            </a:r>
            <a:r>
              <a:rPr lang="en-US" sz="2000" spc="-1" dirty="0" smtClean="0">
                <a:solidFill>
                  <a:srgbClr val="000000"/>
                </a:solidFill>
                <a:latin typeface="Times New Roman" panose="02020603050405020304" pitchFamily="18" charset="0"/>
                <a:ea typeface="MS PGothic"/>
                <a:cs typeface="Times New Roman" panose="02020603050405020304" pitchFamily="18" charset="0"/>
              </a:rPr>
              <a:t> Gupta – 2210992449</a:t>
            </a:r>
          </a:p>
          <a:p>
            <a:pPr algn="ctr">
              <a:lnSpc>
                <a:spcPct val="100000"/>
              </a:lnSpc>
              <a:spcBef>
                <a:spcPts val="400"/>
              </a:spcBef>
            </a:pPr>
            <a:r>
              <a:rPr lang="en-US" sz="2000" spc="-1" dirty="0" err="1" smtClean="0">
                <a:solidFill>
                  <a:srgbClr val="000000"/>
                </a:solidFill>
                <a:latin typeface="Times New Roman" panose="02020603050405020304" pitchFamily="18" charset="0"/>
                <a:ea typeface="MS PGothic"/>
                <a:cs typeface="Times New Roman" panose="02020603050405020304" pitchFamily="18" charset="0"/>
              </a:rPr>
              <a:t>Susen</a:t>
            </a:r>
            <a:r>
              <a:rPr lang="en-US" sz="2000" spc="-1" dirty="0" smtClean="0">
                <a:solidFill>
                  <a:srgbClr val="000000"/>
                </a:solidFill>
                <a:latin typeface="Times New Roman" panose="02020603050405020304" pitchFamily="18" charset="0"/>
                <a:ea typeface="MS PGothic"/>
                <a:cs typeface="Times New Roman" panose="02020603050405020304" pitchFamily="18" charset="0"/>
              </a:rPr>
              <a:t> Narayan - 2210992428</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smtClean="0">
                <a:latin typeface="Times New Roman" panose="02020603050405020304" pitchFamily="18" charset="0"/>
                <a:ea typeface="MS PGothic"/>
                <a:cs typeface="Times New Roman" panose="02020603050405020304" pitchFamily="18" charset="0"/>
              </a:rPr>
              <a:t>Dr. Swati </a:t>
            </a:r>
            <a:r>
              <a:rPr lang="en-US" sz="2000" spc="-1" dirty="0" err="1" smtClean="0">
                <a:latin typeface="Times New Roman" panose="02020603050405020304" pitchFamily="18" charset="0"/>
                <a:ea typeface="MS PGothic"/>
                <a:cs typeface="Times New Roman" panose="02020603050405020304" pitchFamily="18" charset="0"/>
              </a:rPr>
              <a:t>Goel</a:t>
            </a:r>
            <a:endParaRPr lang="en-US" sz="2000" spc="-1" dirty="0" smtClean="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smtClean="0">
                <a:latin typeface="Times New Roman" panose="02020603050405020304" pitchFamily="18" charset="0"/>
                <a:ea typeface="MS PGothic"/>
                <a:cs typeface="Times New Roman" panose="02020603050405020304" pitchFamily="18" charset="0"/>
              </a:rPr>
              <a:t>Assistant Professor</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b="0" strike="noStrike" spc="-1" dirty="0">
              <a:solidFill>
                <a:srgbClr val="000000"/>
              </a:solidFill>
              <a:latin typeface="Times New Roman" pitchFamily="18" charset="0"/>
              <a:cs typeface="Times New Roman" pitchFamily="18" charset="0"/>
            </a:endParaRPr>
          </a:p>
          <a:p>
            <a:r>
              <a:rPr lang="en-US" dirty="0">
                <a:latin typeface="Times New Roman" pitchFamily="18" charset="0"/>
                <a:cs typeface="Times New Roman" pitchFamily="18" charset="0"/>
              </a:rPr>
              <a:t>In the world we live in it is really important to have the skills to get ahead in our careers. A lot of people have skills </a:t>
            </a:r>
            <a:r>
              <a:rPr lang="en-US" dirty="0" err="1">
                <a:latin typeface="Times New Roman" pitchFamily="18" charset="0"/>
                <a:cs typeface="Times New Roman" pitchFamily="18" charset="0"/>
              </a:rPr>
              <a:t>that're</a:t>
            </a:r>
            <a:r>
              <a:rPr lang="en-US" dirty="0">
                <a:latin typeface="Times New Roman" pitchFamily="18" charset="0"/>
                <a:cs typeface="Times New Roman" pitchFamily="18" charset="0"/>
              </a:rPr>
              <a:t> not exactly what they need to do a specific job. The project called </a:t>
            </a:r>
            <a:r>
              <a:rPr lang="en-US" b="1" dirty="0">
                <a:latin typeface="Times New Roman" pitchFamily="18" charset="0"/>
                <a:cs typeface="Times New Roman" pitchFamily="18" charset="0"/>
              </a:rPr>
              <a:t>SKILLGAP AI</a:t>
            </a:r>
            <a:r>
              <a:rPr lang="en-US" dirty="0">
                <a:latin typeface="Times New Roman" pitchFamily="18" charset="0"/>
                <a:cs typeface="Times New Roman" pitchFamily="18" charset="0"/>
              </a:rPr>
              <a:t>: A Smart Skilling Assessment and Individualized Course Recommendation System is trying to fix this problem. It looks at what skills people have. Finds out what skills they are missing.</a:t>
            </a:r>
          </a:p>
          <a:p>
            <a:r>
              <a:rPr lang="en-US" dirty="0">
                <a:latin typeface="Times New Roman" pitchFamily="18" charset="0"/>
                <a:cs typeface="Times New Roman" pitchFamily="18" charset="0"/>
              </a:rPr>
              <a:t>The SKILLGAP AI system uses computer programs to figure out what kind of job someone would be good at based on what they tell it. Then it suggests classes that the person can take to learn the skills they need. By looking at a lot of data and making suggestions the SKILLGAP AI system helps people get better at what they do and be ready for a career. The SKILLGAP AI system is about helping people with their skills and getting them ready, for a job.</a:t>
            </a:r>
          </a:p>
          <a:p>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endParaRPr lang="en-US" b="0" strike="noStrike" spc="-1" dirty="0">
              <a:solidFill>
                <a:srgbClr val="000000"/>
              </a:solidFill>
              <a:latin typeface="Times New Roman" pitchFamily="18" charset="0"/>
              <a:cs typeface="Times New Roman" pitchFamily="18" charset="0"/>
            </a:endParaRPr>
          </a:p>
          <a:p>
            <a:pPr>
              <a:lnSpc>
                <a:spcPct val="100000"/>
              </a:lnSpc>
              <a:spcBef>
                <a:spcPts val="400"/>
              </a:spcBef>
            </a:pPr>
            <a:endParaRPr lang="en-US" spc="-1" dirty="0">
              <a:solidFill>
                <a:srgbClr val="000000"/>
              </a:solidFill>
              <a:latin typeface="Times New Roman" pitchFamily="18" charset="0"/>
              <a:cs typeface="Times New Roman" pitchFamily="18" charset="0"/>
            </a:endParaRPr>
          </a:p>
          <a:p>
            <a:pPr>
              <a:lnSpc>
                <a:spcPct val="150000"/>
              </a:lnSpc>
              <a:spcBef>
                <a:spcPts val="400"/>
              </a:spcBef>
            </a:pPr>
            <a:endParaRPr lang="en-US" b="0" strike="noStrike" spc="-1" dirty="0">
              <a:solidFill>
                <a:srgbClr val="000000"/>
              </a:solidFill>
              <a:latin typeface="Times New Roman" pitchFamily="18" charset="0"/>
              <a:cs typeface="Times New Roman" pitchFamily="18" charset="0"/>
            </a:endParaRPr>
          </a:p>
          <a:p>
            <a:pPr>
              <a:lnSpc>
                <a:spcPct val="150000"/>
              </a:lnSpc>
              <a:spcBef>
                <a:spcPts val="400"/>
              </a:spcBef>
            </a:pPr>
            <a:endParaRPr lang="en-US" b="0" strike="noStrike" spc="-1" dirty="0">
              <a:solidFill>
                <a:srgbClr val="000000"/>
              </a:solidFill>
              <a:latin typeface="Times New Roman" pitchFamily="18" charset="0"/>
              <a:cs typeface="Times New Roman" pitchFamily="18" charset="0"/>
            </a:endParaRPr>
          </a:p>
          <a:p>
            <a:pPr>
              <a:lnSpc>
                <a:spcPct val="150000"/>
              </a:lnSpc>
              <a:spcBef>
                <a:spcPts val="400"/>
              </a:spcBef>
            </a:pPr>
            <a:endParaRPr lang="en-US" b="0" strike="noStrike" spc="-1" dirty="0">
              <a:solidFill>
                <a:srgbClr val="000000"/>
              </a:solidFill>
              <a:latin typeface="Times New Roman" pitchFamily="18" charset="0"/>
              <a:cs typeface="Times New Roman" pitchFamily="18" charset="0"/>
            </a:endParaRPr>
          </a:p>
          <a:p>
            <a:pPr>
              <a:lnSpc>
                <a:spcPct val="150000"/>
              </a:lnSpc>
              <a:spcBef>
                <a:spcPts val="400"/>
              </a:spcBef>
            </a:pPr>
            <a:endParaRPr lang="en-US" b="0" strike="noStrike" spc="-1" dirty="0">
              <a:solidFill>
                <a:srgbClr val="000000"/>
              </a:solidFill>
              <a:latin typeface="Times New Roman" pitchFamily="18" charset="0"/>
              <a:cs typeface="Times New Roman" pitchFamily="18" charset="0"/>
            </a:endParaRPr>
          </a:p>
          <a:p>
            <a:pPr>
              <a:lnSpc>
                <a:spcPct val="100000"/>
              </a:lnSpc>
              <a:spcBef>
                <a:spcPts val="400"/>
              </a:spcBef>
            </a:pPr>
            <a:endParaRPr lang="en-US" b="0" strike="noStrike" spc="-1" dirty="0">
              <a:solidFill>
                <a:srgbClr val="000000"/>
              </a:solidFill>
              <a:latin typeface="Times New Roman" pitchFamily="18" charset="0"/>
              <a:cs typeface="Times New Roman" pitchFamily="18" charset="0"/>
            </a:endParaRPr>
          </a:p>
          <a:p>
            <a:pPr>
              <a:lnSpc>
                <a:spcPct val="100000"/>
              </a:lnSpc>
              <a:spcBef>
                <a:spcPts val="400"/>
              </a:spcBef>
            </a:pPr>
            <a:endParaRPr lang="en-US" b="0" strike="noStrike" spc="-1" dirty="0">
              <a:solidFill>
                <a:srgbClr val="000000"/>
              </a:solidFill>
              <a:latin typeface="Times New Roman" pitchFamily="18" charset="0"/>
              <a:cs typeface="Times New Roman" pitchFamily="18" charset="0"/>
            </a:endParaRPr>
          </a:p>
          <a:p>
            <a:pPr>
              <a:lnSpc>
                <a:spcPct val="100000"/>
              </a:lnSpc>
              <a:spcBef>
                <a:spcPts val="400"/>
              </a:spcBef>
            </a:pPr>
            <a:endParaRPr lang="en-US" b="0" strike="noStrike" spc="-1" dirty="0">
              <a:solidFill>
                <a:srgbClr val="000000"/>
              </a:solidFill>
              <a:latin typeface="Times New Roman" pitchFamily="18" charset="0"/>
              <a:cs typeface="Times New Roman" pitchFamily="18" charset="0"/>
            </a:endParaRPr>
          </a:p>
          <a:p>
            <a:pPr>
              <a:lnSpc>
                <a:spcPct val="100000"/>
              </a:lnSpc>
              <a:spcBef>
                <a:spcPts val="400"/>
              </a:spcBef>
            </a:pPr>
            <a:endParaRPr lang="en-US" b="0" strike="noStrike" spc="-1" dirty="0">
              <a:solidFill>
                <a:srgbClr val="000000"/>
              </a:solidFill>
              <a:latin typeface="Times New Roman" pitchFamily="18" charset="0"/>
              <a:cs typeface="Times New Roman" pitchFamily="18" charset="0"/>
            </a:endParaRPr>
          </a:p>
          <a:p>
            <a:pPr>
              <a:lnSpc>
                <a:spcPct val="100000"/>
              </a:lnSpc>
              <a:spcBef>
                <a:spcPts val="400"/>
              </a:spcBef>
            </a:pPr>
            <a:endParaRPr lang="en-US" b="0" strike="noStrike" spc="-1" dirty="0">
              <a:solidFill>
                <a:srgbClr val="000000"/>
              </a:solidFill>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smtClean="0">
                <a:solidFill>
                  <a:srgbClr val="000000"/>
                </a:solidFill>
                <a:latin typeface="Times New Roman" panose="02020603050405020304" pitchFamily="18" charset="0"/>
                <a:cs typeface="Times New Roman" panose="02020603050405020304" pitchFamily="18" charset="0"/>
              </a:rPr>
              <a:t>Objectives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p:cNvSpPr txBox="1"/>
          <p:nvPr/>
        </p:nvSpPr>
        <p:spPr>
          <a:xfrm>
            <a:off x="164008" y="1109741"/>
            <a:ext cx="8838720" cy="4838571"/>
          </a:xfrm>
          <a:prstGeom prst="rect">
            <a:avLst/>
          </a:prstGeom>
          <a:noFill/>
          <a:ln w="9360">
            <a:noFill/>
          </a:ln>
        </p:spPr>
        <p:txBody>
          <a:bodyPr>
            <a:noAutofit/>
          </a:bodyPr>
          <a:lstStyle/>
          <a:p>
            <a:pPr>
              <a:lnSpc>
                <a:spcPct val="150000"/>
              </a:lnSpc>
              <a:spcBef>
                <a:spcPts val="400"/>
              </a:spcBef>
            </a:pPr>
            <a:r>
              <a:rPr lang="en-US" b="1" dirty="0" smtClean="0">
                <a:latin typeface="Times New Roman" pitchFamily="18" charset="0"/>
                <a:cs typeface="Times New Roman" pitchFamily="18" charset="0"/>
              </a:rPr>
              <a:t>Analyze user skills</a:t>
            </a:r>
          </a:p>
          <a:p>
            <a:pPr>
              <a:lnSpc>
                <a:spcPct val="150000"/>
              </a:lnSpc>
              <a:spcBef>
                <a:spcPts val="400"/>
              </a:spcBef>
            </a:pPr>
            <a:r>
              <a:rPr lang="en-US" b="1" strike="noStrike" spc="-1" dirty="0" smtClean="0">
                <a:solidFill>
                  <a:srgbClr val="000000"/>
                </a:solidFill>
                <a:latin typeface="Times New Roman" pitchFamily="18" charset="0"/>
                <a:cs typeface="Times New Roman" pitchFamily="18" charset="0"/>
              </a:rPr>
              <a:t>Predict suitable career options</a:t>
            </a:r>
          </a:p>
          <a:p>
            <a:pPr>
              <a:lnSpc>
                <a:spcPct val="150000"/>
              </a:lnSpc>
              <a:spcBef>
                <a:spcPts val="400"/>
              </a:spcBef>
            </a:pPr>
            <a:r>
              <a:rPr lang="en-US" b="1" spc="-1" dirty="0" smtClean="0">
                <a:solidFill>
                  <a:srgbClr val="000000"/>
                </a:solidFill>
                <a:latin typeface="Times New Roman" pitchFamily="18" charset="0"/>
                <a:cs typeface="Times New Roman" pitchFamily="18" charset="0"/>
              </a:rPr>
              <a:t>Identify missing skills</a:t>
            </a:r>
          </a:p>
          <a:p>
            <a:pPr>
              <a:lnSpc>
                <a:spcPct val="150000"/>
              </a:lnSpc>
              <a:spcBef>
                <a:spcPts val="400"/>
              </a:spcBef>
            </a:pPr>
            <a:r>
              <a:rPr lang="en-US" b="1" strike="noStrike" spc="-1" dirty="0" smtClean="0">
                <a:solidFill>
                  <a:srgbClr val="000000"/>
                </a:solidFill>
                <a:latin typeface="Times New Roman" pitchFamily="18" charset="0"/>
                <a:cs typeface="Times New Roman" pitchFamily="18" charset="0"/>
              </a:rPr>
              <a:t>Recommend relevant courses.</a:t>
            </a:r>
          </a:p>
          <a:p>
            <a:pPr>
              <a:lnSpc>
                <a:spcPct val="150000"/>
              </a:lnSpc>
              <a:spcBef>
                <a:spcPts val="400"/>
              </a:spcBef>
            </a:pPr>
            <a:endParaRPr lang="en-US" strike="noStrike" spc="-1"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4249070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smtClean="0">
                <a:solidFill>
                  <a:srgbClr val="000000"/>
                </a:solidFill>
                <a:latin typeface="Times New Roman" panose="02020603050405020304" pitchFamily="18" charset="0"/>
                <a:cs typeface="Times New Roman" panose="02020603050405020304" pitchFamily="18" charset="0"/>
              </a:rPr>
              <a:t>Methodology</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p:cNvSpPr txBox="1"/>
          <p:nvPr/>
        </p:nvSpPr>
        <p:spPr>
          <a:xfrm>
            <a:off x="164008" y="1109741"/>
            <a:ext cx="8838720" cy="4838571"/>
          </a:xfrm>
          <a:prstGeom prst="rect">
            <a:avLst/>
          </a:prstGeom>
          <a:noFill/>
          <a:ln w="9360">
            <a:noFill/>
          </a:ln>
        </p:spPr>
        <p:txBody>
          <a:bodyPr>
            <a:noAutofit/>
          </a:bodyPr>
          <a:lstStyle/>
          <a:p>
            <a:pPr>
              <a:lnSpc>
                <a:spcPct val="150000"/>
              </a:lnSpc>
              <a:spcBef>
                <a:spcPts val="400"/>
              </a:spcBef>
            </a:pPr>
            <a:r>
              <a:rPr lang="en-US" b="1" dirty="0" smtClean="0">
                <a:latin typeface="Times New Roman" pitchFamily="18" charset="0"/>
                <a:cs typeface="Times New Roman" pitchFamily="18" charset="0"/>
              </a:rPr>
              <a:t>Data Preprocessing (To make skill data consistent).</a:t>
            </a:r>
          </a:p>
          <a:p>
            <a:pPr>
              <a:lnSpc>
                <a:spcPct val="150000"/>
              </a:lnSpc>
              <a:spcBef>
                <a:spcPts val="400"/>
              </a:spcBef>
            </a:pPr>
            <a:r>
              <a:rPr lang="en-US" b="1" strike="noStrike" spc="-1" dirty="0" smtClean="0">
                <a:solidFill>
                  <a:srgbClr val="000000"/>
                </a:solidFill>
                <a:latin typeface="Times New Roman" pitchFamily="18" charset="0"/>
                <a:cs typeface="Times New Roman" pitchFamily="18" charset="0"/>
              </a:rPr>
              <a:t>TF-IDF(Feature Extraction, Used to convert user skills into features for ML models).</a:t>
            </a:r>
          </a:p>
          <a:p>
            <a:pPr>
              <a:lnSpc>
                <a:spcPct val="150000"/>
              </a:lnSpc>
              <a:spcBef>
                <a:spcPts val="400"/>
              </a:spcBef>
            </a:pPr>
            <a:r>
              <a:rPr lang="en-US" b="1" spc="-1" dirty="0" smtClean="0">
                <a:solidFill>
                  <a:srgbClr val="000000"/>
                </a:solidFill>
                <a:latin typeface="Times New Roman" pitchFamily="18" charset="0"/>
                <a:cs typeface="Times New Roman" pitchFamily="18" charset="0"/>
              </a:rPr>
              <a:t>Machine Learning Models (Decision Tree, Logistic Regression)</a:t>
            </a:r>
          </a:p>
          <a:p>
            <a:pPr>
              <a:lnSpc>
                <a:spcPct val="150000"/>
              </a:lnSpc>
              <a:spcBef>
                <a:spcPts val="400"/>
              </a:spcBef>
            </a:pPr>
            <a:r>
              <a:rPr lang="en-US" b="1" strike="noStrike" spc="-1" dirty="0" smtClean="0">
                <a:solidFill>
                  <a:srgbClr val="000000"/>
                </a:solidFill>
                <a:latin typeface="Times New Roman" pitchFamily="18" charset="0"/>
                <a:cs typeface="Times New Roman" pitchFamily="18" charset="0"/>
              </a:rPr>
              <a:t>Classification(To predict career options)</a:t>
            </a:r>
          </a:p>
          <a:p>
            <a:pPr>
              <a:lnSpc>
                <a:spcPct val="150000"/>
              </a:lnSpc>
              <a:spcBef>
                <a:spcPts val="400"/>
              </a:spcBef>
            </a:pPr>
            <a:r>
              <a:rPr lang="en-US" b="1" spc="-1" dirty="0" smtClean="0">
                <a:solidFill>
                  <a:srgbClr val="000000"/>
                </a:solidFill>
                <a:latin typeface="Times New Roman" pitchFamily="18" charset="0"/>
                <a:cs typeface="Times New Roman" pitchFamily="18" charset="0"/>
              </a:rPr>
              <a:t>Model Training(Done using training data.</a:t>
            </a:r>
          </a:p>
          <a:p>
            <a:pPr>
              <a:lnSpc>
                <a:spcPct val="150000"/>
              </a:lnSpc>
              <a:spcBef>
                <a:spcPts val="400"/>
              </a:spcBef>
            </a:pPr>
            <a:r>
              <a:rPr lang="en-US" b="1" strike="noStrike" spc="-1" dirty="0" smtClean="0">
                <a:solidFill>
                  <a:srgbClr val="000000"/>
                </a:solidFill>
                <a:latin typeface="Times New Roman" pitchFamily="18" charset="0"/>
                <a:cs typeface="Times New Roman" pitchFamily="18" charset="0"/>
              </a:rPr>
              <a:t>Model Evaluation(Used to compare different models.</a:t>
            </a:r>
          </a:p>
          <a:p>
            <a:pPr>
              <a:lnSpc>
                <a:spcPct val="150000"/>
              </a:lnSpc>
              <a:spcBef>
                <a:spcPts val="400"/>
              </a:spcBef>
            </a:pPr>
            <a:r>
              <a:rPr lang="en-US" b="1" spc="-1" dirty="0" smtClean="0">
                <a:solidFill>
                  <a:srgbClr val="000000"/>
                </a:solidFill>
                <a:latin typeface="Times New Roman" pitchFamily="18" charset="0"/>
                <a:cs typeface="Times New Roman" pitchFamily="18" charset="0"/>
              </a:rPr>
              <a:t>Skill Gap Analysis(Helps to identify what user needs to learn)</a:t>
            </a:r>
          </a:p>
          <a:p>
            <a:pPr>
              <a:lnSpc>
                <a:spcPct val="150000"/>
              </a:lnSpc>
              <a:spcBef>
                <a:spcPts val="400"/>
              </a:spcBef>
            </a:pPr>
            <a:r>
              <a:rPr lang="en-US" b="1" strike="noStrike" spc="-1" dirty="0" smtClean="0">
                <a:solidFill>
                  <a:srgbClr val="000000"/>
                </a:solidFill>
                <a:latin typeface="Times New Roman" pitchFamily="18" charset="0"/>
                <a:cs typeface="Times New Roman" pitchFamily="18" charset="0"/>
              </a:rPr>
              <a:t>Recommendation System(Rule-based system)</a:t>
            </a:r>
          </a:p>
          <a:p>
            <a:pPr>
              <a:lnSpc>
                <a:spcPct val="150000"/>
              </a:lnSpc>
              <a:spcBef>
                <a:spcPts val="400"/>
              </a:spcBef>
            </a:pPr>
            <a:endParaRPr lang="en-US" strike="noStrike" spc="-1"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18085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smtClean="0">
                <a:solidFill>
                  <a:srgbClr val="000000"/>
                </a:solidFill>
                <a:latin typeface="Times New Roman" panose="02020603050405020304" pitchFamily="18" charset="0"/>
                <a:cs typeface="Times New Roman" panose="02020603050405020304" pitchFamily="18" charset="0"/>
              </a:rPr>
              <a:t>System </a:t>
            </a:r>
            <a:r>
              <a:rPr lang="en-US" sz="3000" b="0" strike="noStrike" spc="-1" dirty="0" err="1" smtClean="0">
                <a:solidFill>
                  <a:srgbClr val="000000"/>
                </a:solidFill>
                <a:latin typeface="Times New Roman" panose="02020603050405020304" pitchFamily="18" charset="0"/>
                <a:cs typeface="Times New Roman" panose="02020603050405020304" pitchFamily="18" charset="0"/>
              </a:rPr>
              <a:t>WorkFlow</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p:cNvSpPr txBox="1"/>
          <p:nvPr/>
        </p:nvSpPr>
        <p:spPr>
          <a:xfrm>
            <a:off x="164008" y="1109741"/>
            <a:ext cx="8838720" cy="4838571"/>
          </a:xfrm>
          <a:prstGeom prst="rect">
            <a:avLst/>
          </a:prstGeom>
          <a:noFill/>
          <a:ln w="9360">
            <a:noFill/>
          </a:ln>
        </p:spPr>
        <p:txBody>
          <a:bodyPr>
            <a:noAutofit/>
          </a:bodyPr>
          <a:lstStyle/>
          <a:p>
            <a:pPr>
              <a:lnSpc>
                <a:spcPct val="150000"/>
              </a:lnSpc>
              <a:spcBef>
                <a:spcPts val="400"/>
              </a:spcBef>
            </a:pPr>
            <a:endParaRPr lang="en-US" b="1" dirty="0" smtClean="0">
              <a:latin typeface="Times New Roman" pitchFamily="18" charset="0"/>
              <a:cs typeface="Times New Roman" pitchFamily="18" charset="0"/>
            </a:endParaRPr>
          </a:p>
        </p:txBody>
      </p:sp>
      <p:graphicFrame>
        <p:nvGraphicFramePr>
          <p:cNvPr id="6" name="Diagram 5"/>
          <p:cNvGraphicFramePr/>
          <p:nvPr>
            <p:extLst>
              <p:ext uri="{D42A27DB-BD31-4B8C-83A1-F6EECF244321}">
                <p14:modId xmlns:p14="http://schemas.microsoft.com/office/powerpoint/2010/main" val="3208108309"/>
              </p:ext>
            </p:extLst>
          </p:nvPr>
        </p:nvGraphicFramePr>
        <p:xfrm>
          <a:off x="350728" y="1515649"/>
          <a:ext cx="7903923" cy="3344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4015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smtClean="0">
                <a:solidFill>
                  <a:srgbClr val="000000"/>
                </a:solidFill>
                <a:latin typeface="Times New Roman" panose="02020603050405020304" pitchFamily="18" charset="0"/>
                <a:cs typeface="Times New Roman" panose="02020603050405020304" pitchFamily="18" charset="0"/>
              </a:rPr>
              <a:t>Dataset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p:cNvSpPr txBox="1"/>
          <p:nvPr/>
        </p:nvSpPr>
        <p:spPr>
          <a:xfrm>
            <a:off x="164008" y="1109741"/>
            <a:ext cx="8838720" cy="4838571"/>
          </a:xfrm>
          <a:prstGeom prst="rect">
            <a:avLst/>
          </a:prstGeom>
          <a:noFill/>
          <a:ln w="9360">
            <a:noFill/>
          </a:ln>
        </p:spPr>
        <p:txBody>
          <a:bodyPr>
            <a:noAutofit/>
          </a:bodyPr>
          <a:lstStyle/>
          <a:p>
            <a:pPr>
              <a:lnSpc>
                <a:spcPct val="150000"/>
              </a:lnSpc>
              <a:spcBef>
                <a:spcPts val="400"/>
              </a:spcBef>
            </a:pPr>
            <a:r>
              <a:rPr lang="en-US" b="1" dirty="0" smtClean="0">
                <a:latin typeface="Times New Roman" pitchFamily="18" charset="0"/>
                <a:cs typeface="Times New Roman" pitchFamily="18" charset="0"/>
              </a:rPr>
              <a:t>Career Dataset</a:t>
            </a:r>
          </a:p>
          <a:p>
            <a:pPr>
              <a:lnSpc>
                <a:spcPct val="150000"/>
              </a:lnSpc>
              <a:spcBef>
                <a:spcPts val="400"/>
              </a:spcBef>
            </a:pPr>
            <a:r>
              <a:rPr lang="en-US" b="1" dirty="0" smtClean="0">
                <a:latin typeface="Times New Roman" pitchFamily="18" charset="0"/>
                <a:cs typeface="Times New Roman" pitchFamily="18" charset="0"/>
              </a:rPr>
              <a:t>Contains:</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Skills</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Career Labels</a:t>
            </a:r>
          </a:p>
          <a:p>
            <a:pPr>
              <a:lnSpc>
                <a:spcPct val="150000"/>
              </a:lnSpc>
              <a:spcBef>
                <a:spcPts val="400"/>
              </a:spcBef>
            </a:pPr>
            <a:r>
              <a:rPr lang="en-US" b="1" dirty="0" smtClean="0">
                <a:latin typeface="Times New Roman" pitchFamily="18" charset="0"/>
                <a:cs typeface="Times New Roman" pitchFamily="18" charset="0"/>
              </a:rPr>
              <a:t>Cleaned and preprocessed for training.</a:t>
            </a:r>
          </a:p>
        </p:txBody>
      </p:sp>
    </p:spTree>
    <p:extLst>
      <p:ext uri="{BB962C8B-B14F-4D97-AF65-F5344CB8AC3E}">
        <p14:creationId xmlns:p14="http://schemas.microsoft.com/office/powerpoint/2010/main" val="1532318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smtClean="0">
                <a:solidFill>
                  <a:srgbClr val="000000"/>
                </a:solidFill>
                <a:latin typeface="Times New Roman" panose="02020603050405020304" pitchFamily="18" charset="0"/>
                <a:cs typeface="Times New Roman" panose="02020603050405020304" pitchFamily="18" charset="0"/>
              </a:rPr>
              <a:t>Models Used</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p:cNvSpPr txBox="1"/>
          <p:nvPr/>
        </p:nvSpPr>
        <p:spPr>
          <a:xfrm>
            <a:off x="164008" y="1109741"/>
            <a:ext cx="8838720" cy="4838571"/>
          </a:xfrm>
          <a:prstGeom prst="rect">
            <a:avLst/>
          </a:prstGeom>
          <a:noFill/>
          <a:ln w="9360">
            <a:noFill/>
          </a:ln>
        </p:spPr>
        <p:txBody>
          <a:bodyPr>
            <a:noAutofit/>
          </a:bodyPr>
          <a:lstStyle/>
          <a:p>
            <a:pPr>
              <a:lnSpc>
                <a:spcPct val="150000"/>
              </a:lnSpc>
              <a:spcBef>
                <a:spcPts val="400"/>
              </a:spcBef>
            </a:pPr>
            <a:r>
              <a:rPr lang="en-US" b="1" dirty="0" smtClean="0">
                <a:latin typeface="Times New Roman" pitchFamily="18" charset="0"/>
                <a:cs typeface="Times New Roman" pitchFamily="18" charset="0"/>
              </a:rPr>
              <a:t>Decision Tree:</a:t>
            </a:r>
          </a:p>
          <a:p>
            <a:pPr>
              <a:lnSpc>
                <a:spcPct val="150000"/>
              </a:lnSpc>
              <a:spcBef>
                <a:spcPts val="400"/>
              </a:spcBef>
            </a:pPr>
            <a:r>
              <a:rPr lang="en-US" dirty="0" smtClean="0">
                <a:latin typeface="Times New Roman" pitchFamily="18" charset="0"/>
                <a:cs typeface="Times New Roman" pitchFamily="18" charset="0"/>
              </a:rPr>
              <a:t>Used to classify careers by splitting data based on skill conditions.</a:t>
            </a:r>
          </a:p>
          <a:p>
            <a:pPr>
              <a:lnSpc>
                <a:spcPct val="150000"/>
              </a:lnSpc>
              <a:spcBef>
                <a:spcPts val="400"/>
              </a:spcBef>
            </a:pPr>
            <a:r>
              <a:rPr lang="en-US" b="1" dirty="0" smtClean="0">
                <a:latin typeface="Times New Roman" pitchFamily="18" charset="0"/>
                <a:cs typeface="Times New Roman" pitchFamily="18" charset="0"/>
              </a:rPr>
              <a:t>Logistic Regression</a:t>
            </a:r>
          </a:p>
          <a:p>
            <a:pPr>
              <a:lnSpc>
                <a:spcPct val="150000"/>
              </a:lnSpc>
              <a:spcBef>
                <a:spcPts val="400"/>
              </a:spcBef>
            </a:pPr>
            <a:r>
              <a:rPr lang="en-US" dirty="0" smtClean="0">
                <a:latin typeface="Times New Roman" pitchFamily="18" charset="0"/>
                <a:cs typeface="Times New Roman" pitchFamily="18" charset="0"/>
              </a:rPr>
              <a:t>Used for accurate career prediction using linear relationships in skill data.</a:t>
            </a:r>
          </a:p>
          <a:p>
            <a:pPr>
              <a:lnSpc>
                <a:spcPct val="150000"/>
              </a:lnSpc>
              <a:spcBef>
                <a:spcPts val="400"/>
              </a:spcBef>
            </a:pPr>
            <a:r>
              <a:rPr lang="en-US" b="1" dirty="0" smtClean="0">
                <a:latin typeface="Times New Roman" pitchFamily="18" charset="0"/>
                <a:cs typeface="Times New Roman" pitchFamily="18" charset="0"/>
              </a:rPr>
              <a:t>Naïve Bayes</a:t>
            </a:r>
          </a:p>
          <a:p>
            <a:pPr>
              <a:lnSpc>
                <a:spcPct val="150000"/>
              </a:lnSpc>
              <a:spcBef>
                <a:spcPts val="400"/>
              </a:spcBef>
            </a:pPr>
            <a:r>
              <a:rPr lang="en-US" dirty="0" smtClean="0">
                <a:latin typeface="Times New Roman" pitchFamily="18" charset="0"/>
                <a:cs typeface="Times New Roman" pitchFamily="18" charset="0"/>
              </a:rPr>
              <a:t>Used for fast and efficient classification of text-based skill data.</a:t>
            </a:r>
          </a:p>
          <a:p>
            <a:pPr>
              <a:lnSpc>
                <a:spcPct val="150000"/>
              </a:lnSpc>
              <a:spcBef>
                <a:spcPts val="400"/>
              </a:spcBef>
            </a:pPr>
            <a:r>
              <a:rPr lang="en-US" b="1" dirty="0" smtClean="0">
                <a:latin typeface="Times New Roman" pitchFamily="18" charset="0"/>
                <a:cs typeface="Times New Roman" pitchFamily="18" charset="0"/>
              </a:rPr>
              <a:t>Random Forest</a:t>
            </a:r>
          </a:p>
          <a:p>
            <a:pPr>
              <a:lnSpc>
                <a:spcPct val="150000"/>
              </a:lnSpc>
              <a:spcBef>
                <a:spcPts val="400"/>
              </a:spcBef>
            </a:pPr>
            <a:r>
              <a:rPr lang="en-US" dirty="0" smtClean="0">
                <a:latin typeface="Times New Roman" pitchFamily="18" charset="0"/>
                <a:cs typeface="Times New Roman" pitchFamily="18" charset="0"/>
              </a:rPr>
              <a:t>Used to improve prediction accuracy by combining multiple </a:t>
            </a:r>
          </a:p>
          <a:p>
            <a:pPr>
              <a:lnSpc>
                <a:spcPct val="150000"/>
              </a:lnSpc>
              <a:spcBef>
                <a:spcPts val="400"/>
              </a:spcBef>
            </a:pPr>
            <a:r>
              <a:rPr lang="en-US" b="1" dirty="0" smtClean="0">
                <a:latin typeface="Times New Roman" pitchFamily="18" charset="0"/>
                <a:cs typeface="Times New Roman" pitchFamily="18" charset="0"/>
              </a:rPr>
              <a:t>SGD Classifier</a:t>
            </a:r>
          </a:p>
          <a:p>
            <a:pPr>
              <a:lnSpc>
                <a:spcPct val="150000"/>
              </a:lnSpc>
              <a:spcBef>
                <a:spcPts val="400"/>
              </a:spcBef>
            </a:pPr>
            <a:r>
              <a:rPr lang="en-US" dirty="0" smtClean="0">
                <a:latin typeface="Times New Roman" pitchFamily="18" charset="0"/>
                <a:cs typeface="Times New Roman" pitchFamily="18" charset="0"/>
              </a:rPr>
              <a:t>Used for fast and efficient classification on high-dimensional text data.</a:t>
            </a:r>
          </a:p>
        </p:txBody>
      </p:sp>
    </p:spTree>
    <p:extLst>
      <p:ext uri="{BB962C8B-B14F-4D97-AF65-F5344CB8AC3E}">
        <p14:creationId xmlns:p14="http://schemas.microsoft.com/office/powerpoint/2010/main" val="1390325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smtClean="0">
                <a:solidFill>
                  <a:srgbClr val="000000"/>
                </a:solidFill>
                <a:latin typeface="Times New Roman" panose="02020603050405020304" pitchFamily="18" charset="0"/>
                <a:cs typeface="Times New Roman" panose="02020603050405020304" pitchFamily="18" charset="0"/>
              </a:rPr>
              <a:t>Models Used</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p:cNvSpPr txBox="1"/>
          <p:nvPr/>
        </p:nvSpPr>
        <p:spPr>
          <a:xfrm>
            <a:off x="164008" y="1109741"/>
            <a:ext cx="8838720" cy="4838571"/>
          </a:xfrm>
          <a:prstGeom prst="rect">
            <a:avLst/>
          </a:prstGeom>
          <a:noFill/>
          <a:ln w="9360">
            <a:noFill/>
          </a:ln>
        </p:spPr>
        <p:txBody>
          <a:bodyPr>
            <a:noAutofit/>
          </a:bodyPr>
          <a:lstStyle/>
          <a:p>
            <a:pPr>
              <a:lnSpc>
                <a:spcPct val="150000"/>
              </a:lnSpc>
              <a:spcBef>
                <a:spcPts val="400"/>
              </a:spcBef>
            </a:pPr>
            <a:r>
              <a:rPr lang="en-US" b="1" dirty="0" smtClean="0">
                <a:latin typeface="Times New Roman" pitchFamily="18" charset="0"/>
                <a:cs typeface="Times New Roman" pitchFamily="18" charset="0"/>
              </a:rPr>
              <a:t>KNN(K-Nearest Neighbors)</a:t>
            </a:r>
          </a:p>
          <a:p>
            <a:pPr>
              <a:lnSpc>
                <a:spcPct val="150000"/>
              </a:lnSpc>
              <a:spcBef>
                <a:spcPts val="400"/>
              </a:spcBef>
            </a:pPr>
            <a:r>
              <a:rPr lang="en-US" dirty="0" smtClean="0">
                <a:latin typeface="Times New Roman" pitchFamily="18" charset="0"/>
                <a:cs typeface="Times New Roman" pitchFamily="18" charset="0"/>
              </a:rPr>
              <a:t>Used to predict careers based on similarity with nearest skill profiles.</a:t>
            </a:r>
          </a:p>
          <a:p>
            <a:pPr>
              <a:lnSpc>
                <a:spcPct val="150000"/>
              </a:lnSpc>
              <a:spcBef>
                <a:spcPts val="400"/>
              </a:spcBef>
            </a:pPr>
            <a:r>
              <a:rPr lang="en-US" b="1" dirty="0" smtClean="0">
                <a:latin typeface="Times New Roman" pitchFamily="18" charset="0"/>
                <a:cs typeface="Times New Roman" pitchFamily="18" charset="0"/>
              </a:rPr>
              <a:t>Ridge Classifier</a:t>
            </a:r>
          </a:p>
          <a:p>
            <a:pPr>
              <a:lnSpc>
                <a:spcPct val="150000"/>
              </a:lnSpc>
              <a:spcBef>
                <a:spcPts val="400"/>
              </a:spcBef>
            </a:pPr>
            <a:r>
              <a:rPr lang="en-US" dirty="0" smtClean="0">
                <a:latin typeface="Times New Roman" pitchFamily="18" charset="0"/>
                <a:cs typeface="Times New Roman" pitchFamily="18" charset="0"/>
              </a:rPr>
              <a:t>Used to provide stable predictions by handling high-dimensional data and reduce </a:t>
            </a:r>
            <a:r>
              <a:rPr lang="en-US" dirty="0" err="1" smtClean="0">
                <a:latin typeface="Times New Roman" pitchFamily="18" charset="0"/>
                <a:cs typeface="Times New Roman" pitchFamily="18" charset="0"/>
              </a:rPr>
              <a:t>overfitting</a:t>
            </a:r>
            <a:r>
              <a:rPr lang="en-US" dirty="0" smtClean="0">
                <a:latin typeface="Times New Roman" pitchFamily="18" charset="0"/>
                <a:cs typeface="Times New Roman" pitchFamily="18" charset="0"/>
              </a:rPr>
              <a:t>.</a:t>
            </a:r>
          </a:p>
        </p:txBody>
      </p:sp>
    </p:spTree>
    <p:extLst>
      <p:ext uri="{BB962C8B-B14F-4D97-AF65-F5344CB8AC3E}">
        <p14:creationId xmlns:p14="http://schemas.microsoft.com/office/powerpoint/2010/main" val="4109290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smtClean="0">
                <a:solidFill>
                  <a:srgbClr val="000000"/>
                </a:solidFill>
                <a:latin typeface="Times New Roman" panose="02020603050405020304" pitchFamily="18" charset="0"/>
                <a:cs typeface="Times New Roman" panose="02020603050405020304" pitchFamily="18" charset="0"/>
              </a:rPr>
              <a:t>Evaluation </a:t>
            </a:r>
            <a:r>
              <a:rPr lang="en-US" sz="3000" b="0" strike="noStrike" spc="-1" dirty="0" err="1" smtClean="0">
                <a:solidFill>
                  <a:srgbClr val="000000"/>
                </a:solidFill>
                <a:latin typeface="Times New Roman" panose="02020603050405020304" pitchFamily="18" charset="0"/>
                <a:cs typeface="Times New Roman" panose="02020603050405020304" pitchFamily="18" charset="0"/>
              </a:rPr>
              <a:t>Metrices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5" name="TextShape 2"/>
          <p:cNvSpPr txBox="1"/>
          <p:nvPr/>
        </p:nvSpPr>
        <p:spPr>
          <a:xfrm>
            <a:off x="164008" y="1109741"/>
            <a:ext cx="8838720" cy="4838571"/>
          </a:xfrm>
          <a:prstGeom prst="rect">
            <a:avLst/>
          </a:prstGeom>
          <a:noFill/>
          <a:ln w="9360">
            <a:noFill/>
          </a:ln>
        </p:spPr>
        <p:txBody>
          <a:bodyPr>
            <a:noAutofit/>
          </a:bodyPr>
          <a:lstStyle/>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 Accuracy</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Precision</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Recall</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F1 Score</a:t>
            </a:r>
          </a:p>
          <a:p>
            <a:pPr>
              <a:lnSpc>
                <a:spcPct val="150000"/>
              </a:lnSpc>
              <a:spcBef>
                <a:spcPts val="400"/>
              </a:spcBef>
            </a:pPr>
            <a:endParaRPr lang="en-US" b="1"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06507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smtClean="0">
                <a:solidFill>
                  <a:srgbClr val="000000"/>
                </a:solidFill>
                <a:latin typeface="Times New Roman" panose="02020603050405020304" pitchFamily="18" charset="0"/>
                <a:cs typeface="Times New Roman" panose="02020603050405020304" pitchFamily="18" charset="0"/>
              </a:rPr>
              <a:t>Skill Gap Analysis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
        <p:nvSpPr>
          <p:cNvPr id="5" name="TextShape 2"/>
          <p:cNvSpPr txBox="1"/>
          <p:nvPr/>
        </p:nvSpPr>
        <p:spPr>
          <a:xfrm>
            <a:off x="164008" y="1109741"/>
            <a:ext cx="8838720" cy="4838571"/>
          </a:xfrm>
          <a:prstGeom prst="rect">
            <a:avLst/>
          </a:prstGeom>
          <a:noFill/>
          <a:ln w="9360">
            <a:noFill/>
          </a:ln>
        </p:spPr>
        <p:txBody>
          <a:bodyPr>
            <a:noAutofit/>
          </a:bodyPr>
          <a:lstStyle/>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Compares user skill and required skills</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Identifies missing skills</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Helps in improvement planning</a:t>
            </a:r>
          </a:p>
          <a:p>
            <a:pPr marL="285750" indent="-285750">
              <a:lnSpc>
                <a:spcPct val="150000"/>
              </a:lnSpc>
              <a:spcBef>
                <a:spcPts val="400"/>
              </a:spcBef>
              <a:buFont typeface="Arial" pitchFamily="34" charset="0"/>
              <a:buChar char="•"/>
            </a:pPr>
            <a:endParaRPr lang="en-US" b="1"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271771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smtClean="0">
                <a:solidFill>
                  <a:srgbClr val="000000"/>
                </a:solidFill>
                <a:latin typeface="Times New Roman" panose="02020603050405020304" pitchFamily="18" charset="0"/>
                <a:cs typeface="Times New Roman" panose="02020603050405020304" pitchFamily="18" charset="0"/>
              </a:rPr>
              <a:t>Course Recommendation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
        <p:nvSpPr>
          <p:cNvPr id="5" name="TextShape 2"/>
          <p:cNvSpPr txBox="1"/>
          <p:nvPr/>
        </p:nvSpPr>
        <p:spPr>
          <a:xfrm>
            <a:off x="164008" y="1109741"/>
            <a:ext cx="8838720" cy="4838571"/>
          </a:xfrm>
          <a:prstGeom prst="rect">
            <a:avLst/>
          </a:prstGeom>
          <a:noFill/>
          <a:ln w="9360">
            <a:noFill/>
          </a:ln>
        </p:spPr>
        <p:txBody>
          <a:bodyPr>
            <a:noAutofit/>
          </a:bodyPr>
          <a:lstStyle/>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Suggest courses based on skill gaps</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Personalized recommendations</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Helps users achieve career goals</a:t>
            </a:r>
          </a:p>
        </p:txBody>
      </p:sp>
    </p:spTree>
    <p:extLst>
      <p:ext uri="{BB962C8B-B14F-4D97-AF65-F5344CB8AC3E}">
        <p14:creationId xmlns:p14="http://schemas.microsoft.com/office/powerpoint/2010/main" val="2973331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smtClean="0">
                <a:solidFill>
                  <a:srgbClr val="000000"/>
                </a:solidFill>
                <a:latin typeface="Times New Roman" panose="02020603050405020304" pitchFamily="18" charset="0"/>
                <a:cs typeface="Times New Roman" panose="02020603050405020304" pitchFamily="18" charset="0"/>
              </a:rPr>
              <a:t>Results and Conclusion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
        <p:nvSpPr>
          <p:cNvPr id="5" name="TextShape 2"/>
          <p:cNvSpPr txBox="1"/>
          <p:nvPr/>
        </p:nvSpPr>
        <p:spPr>
          <a:xfrm>
            <a:off x="164008" y="1109741"/>
            <a:ext cx="8838720" cy="4838571"/>
          </a:xfrm>
          <a:prstGeom prst="rect">
            <a:avLst/>
          </a:prstGeom>
          <a:noFill/>
          <a:ln w="9360">
            <a:noFill/>
          </a:ln>
        </p:spPr>
        <p:txBody>
          <a:bodyPr>
            <a:noAutofit/>
          </a:bodyPr>
          <a:lstStyle/>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Models compared using </a:t>
            </a:r>
            <a:r>
              <a:rPr lang="en-US" b="1" dirty="0" err="1" smtClean="0">
                <a:latin typeface="Times New Roman" pitchFamily="18" charset="0"/>
                <a:cs typeface="Times New Roman" pitchFamily="18" charset="0"/>
              </a:rPr>
              <a:t>metrices</a:t>
            </a:r>
            <a:r>
              <a:rPr lang="en-US" b="1" dirty="0" smtClean="0">
                <a:latin typeface="Times New Roman" pitchFamily="18" charset="0"/>
                <a:cs typeface="Times New Roman" pitchFamily="18" charset="0"/>
              </a:rPr>
              <a:t>.</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SGD performed best.</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System successfully predicts careers.</a:t>
            </a:r>
          </a:p>
          <a:p>
            <a:pPr marL="285750" indent="-285750">
              <a:lnSpc>
                <a:spcPct val="150000"/>
              </a:lnSpc>
              <a:spcBef>
                <a:spcPts val="400"/>
              </a:spcBef>
              <a:buFont typeface="Arial" pitchFamily="34" charset="0"/>
              <a:buChar char="•"/>
            </a:pPr>
            <a:endParaRPr lang="en-US" b="1" dirty="0">
              <a:latin typeface="Times New Roman" pitchFamily="18" charset="0"/>
              <a:cs typeface="Times New Roman" pitchFamily="18" charset="0"/>
            </a:endParaRPr>
          </a:p>
          <a:p>
            <a:pPr>
              <a:lnSpc>
                <a:spcPct val="150000"/>
              </a:lnSpc>
              <a:spcBef>
                <a:spcPts val="400"/>
              </a:spcBef>
            </a:pPr>
            <a:r>
              <a:rPr lang="en-US" b="1" dirty="0" smtClean="0">
                <a:latin typeface="Times New Roman" pitchFamily="18" charset="0"/>
                <a:cs typeface="Times New Roman" pitchFamily="18" charset="0"/>
              </a:rPr>
              <a:t>Conclusion:</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System helps identify skill gaps.</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Provides career guidance.</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Improves learning paths.</a:t>
            </a:r>
          </a:p>
          <a:p>
            <a:pPr marL="285750" indent="-285750">
              <a:lnSpc>
                <a:spcPct val="150000"/>
              </a:lnSpc>
              <a:spcBef>
                <a:spcPts val="400"/>
              </a:spcBef>
              <a:buFont typeface="Arial" pitchFamily="34" charset="0"/>
              <a:buChar char="•"/>
            </a:pPr>
            <a:endParaRPr lang="en-US" b="1"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3105921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smtClean="0">
                <a:solidFill>
                  <a:srgbClr val="000000"/>
                </a:solidFill>
                <a:latin typeface="Times New Roman" panose="02020603050405020304" pitchFamily="18" charset="0"/>
                <a:cs typeface="Times New Roman" panose="02020603050405020304" pitchFamily="18" charset="0"/>
              </a:rPr>
              <a:t>Future Scope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
        <p:nvSpPr>
          <p:cNvPr id="5" name="TextShape 2"/>
          <p:cNvSpPr txBox="1"/>
          <p:nvPr/>
        </p:nvSpPr>
        <p:spPr>
          <a:xfrm>
            <a:off x="164008" y="1109741"/>
            <a:ext cx="8838720" cy="4838571"/>
          </a:xfrm>
          <a:prstGeom prst="rect">
            <a:avLst/>
          </a:prstGeom>
          <a:noFill/>
          <a:ln w="9360">
            <a:noFill/>
          </a:ln>
        </p:spPr>
        <p:txBody>
          <a:bodyPr>
            <a:noAutofit/>
          </a:bodyPr>
          <a:lstStyle/>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Add real-time job data</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Use deep learning models</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Improve recommendation accuracy</a:t>
            </a:r>
          </a:p>
          <a:p>
            <a:pPr marL="285750" indent="-285750">
              <a:lnSpc>
                <a:spcPct val="150000"/>
              </a:lnSpc>
              <a:spcBef>
                <a:spcPts val="400"/>
              </a:spcBef>
              <a:buFont typeface="Arial" pitchFamily="34" charset="0"/>
              <a:buChar char="•"/>
            </a:pPr>
            <a:r>
              <a:rPr lang="en-US" b="1" dirty="0" smtClean="0">
                <a:latin typeface="Times New Roman" pitchFamily="18" charset="0"/>
                <a:cs typeface="Times New Roman" pitchFamily="18" charset="0"/>
              </a:rPr>
              <a:t>Build full web/app interface</a:t>
            </a:r>
          </a:p>
        </p:txBody>
      </p:sp>
    </p:spTree>
    <p:extLst>
      <p:ext uri="{BB962C8B-B14F-4D97-AF65-F5344CB8AC3E}">
        <p14:creationId xmlns:p14="http://schemas.microsoft.com/office/powerpoint/2010/main" val="223917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14</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34761</TotalTime>
  <Words>549</Words>
  <Application>Microsoft Office PowerPoint</Application>
  <PresentationFormat>On-screen Show (4:3)</PresentationFormat>
  <Paragraphs>112</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Tanisha Bhayana</cp:lastModifiedBy>
  <cp:revision>2306</cp:revision>
  <dcterms:created xsi:type="dcterms:W3CDTF">2010-04-09T07:36:15Z</dcterms:created>
  <dcterms:modified xsi:type="dcterms:W3CDTF">2026-05-16T04:21:48Z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